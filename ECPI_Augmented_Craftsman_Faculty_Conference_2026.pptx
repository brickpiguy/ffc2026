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ECPI is shaping a software development program that pairs enduring engineering craft with thoughtful use of modern tools.,Suggested talking points: Welcome faculty and colleagues. The phrase “Augmented Craftsman” captures an educational direction, not a promise that a tool can do the work of learning. We want students to understand what they build, make sound design choices, test their assumptions, and use AI where it helps them work with greater capability. The visual on the right is a working cycle: intent, judgment, testing, refinement. Each step still depends on a developer making decisions. This conference is a chance to share the vision, show real development activity, and invite the faculty expertise that will make the program durable.,Transition: First, let’s connect that vision to what is changing in the practice of software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program is evolving in response to changes in practice, while keeping student capability at the center.,Suggested talking points: Three forces make this a timely conversation. AI-assisted development changes how people approach a task, but it does not remove the need to know whether a result is correct, useful, or appropriate. Employers need graduates who can frame a problem, explain a choice, and assess a proposed solution; code production alone is not the whole job. And software reaches users through coordinated work: a developer collaborates, manages changes, tests, and improves the product. Those practices are learned by doing, with guidance and feedback. We are not proposing a curriculum organized around the novelty of a tool. Our aim is to help students build stronger and more flexible software development habits.,Transition: That educational goal is the heart of the Augmented Craftsman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model treats technical knowledge, thoughtful practice, and responsible augmentation as one integrated kind of professional development.,Suggested talking points: It may help to think of these capabilities as mutually reinforcing, rather than as a checklist of separate subjects. Strong fundamentals help a student evaluate code, including code proposed by AI. Critical thinking gives them a way to ask whether a solution addresses the actual problem. Craftsmanship turns a promising idea into software another person can understand and maintain. Collaborative practices let those skills work across a team. Responsible AI use requires students to be transparent, attentive to quality, and accountable for what they submit. And because the field will continue to change, adaptability is itself part of the craft. The center of this model is a person exercising judgment; AI is a tool, not a replacement for that judgment.,Transition: Those principles become more tangible in the learning experiences we are proposing.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program is designed to connect modern development practices with applied, project-based learning and an intentional professional pathway.,Suggested talking points: These six features describe the shape of the proposed student experience. Students should encounter AI in the context of real software work, not as a disconnected topic. Version control and collaboration make that work visible and teachable. Automation, testing, and continuous delivery help students see how individual code changes become reliable releases. Projects let them put those practices together and learn from feedback. Industry certifications are intended to be integrated into the educational pathway, though we should be careful not to imply that particular certification requirements have been finalized here. Across the experience, pragmatic engineering and creativity belong together: students should be able to explore possibilities while explaining and defending their technical choices.,Transition: With that proposed experience in view, we can look at the current development work, beginning with Phase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Phase One shows meaningful development progress, while distinguishing published courses from courses still in development or quality control.,Suggested talking points: The approved infographic is the visual anchor for this update. The presenter has manually verified these figures against the Phase One workbook. It depicts 30 courses in Phase One scope and 14 as published. That published label matters: publication is a deliverable, whereas the courses shown at 90 percent are still at the quality-control handoff stage, not published courses. The graphic also shows a development pipeline with a range of work underway and one course on hold for subject-matter-expert availability. The selected spotlight courses are illustrative rather than a full roster.,Transition: Phase Two is the next wave, and its visible pipeline tells a different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Phase Two is a growing development pipeline, not a set of published courses; the selected spotlight makes that distinction clear.,Suggested talking points: The presenter has manually verified these figures against the Phase Two workbook. The graphic depicts 20 courses in scope: four in development, thirteen awaiting resources, three not started, and none published. Those categories describe different kinds of work and should not be collapsed into a single completion figure. The spotlight shows SDC130, Database Systems and SQL, at 90 percent, and SDC305, Software Architecture Using AI Tools, at 85 percent. Both are shown as in development, not as published deliverables. SDC130 also appears in the Phase One graphic, so it must not be counted twice if we later summarize the program portfolio. The resource queue is part of the honest picture: a visible pipeline provides a basis for planning, not a claim that the queued work is complete.,Transition: These two phases point toward a sequence of deliberate next steps, rather than a set of invented deadline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 sustainable program depends on a sequence of development, quality review, faculty preparation, implementation, and learning from feedback.,Suggested talking points: The roadmap is intentionally organized by sequence rather than calendar date. We have not been given documented milestone dates, and a useful conference update should not suggest that tentative timing is approved. First, content is developed and refined. Then instructional and quality reviews give us a chance to catch issues while the material is still being improved. Faculty preparation helps connect course goals to the teaching experience. Course release and implementation follow those steps rather than substitute for them. Finally, feedback from instructors and students should inform continuous improvement. The sequence also gives faculty several meaningful points of participation. The point is not to promise a fixed schedule today; it is to show a disciplined approach for bringing the work forward responsibly.,Transition: That process will be strongest when faculty help shape both the learning experience and the feedback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Faculty partnership is essential to developing students who can combine sound judgment with emerging technical capability.,Suggested talking points: This change is about more than new courses or new technologies. It is about equipping students with the confidence to engage with unfamiliar problems, the craft to build well, and the adaptability to continue learning. Faculty expertise is central to that effort. Your practical and instructional insight can make course materials more relevant and more teachable. Participating in review helps ensure that the work is clear, rigorous, and useful to students. And in the classroom, faculty can help students develop professional judgment alongside technical skill: asking what a tool did, whether the result is sound, and what responsibility the developer has for the outcome. The invitation is to help shape this together. The central idea is not AI versus developers; it is better developers, augmented by AI. I would welcome your questions and discussion.,Transition: Open the floor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081A2B"/>
        </a:solidFill>
      </p:bgPr>
    </p:bg>
    <p:spTree>
      <p:nvGrpSpPr>
        <p:cNvPr id="1" name=""/>
        <p:cNvGrpSpPr/>
        <p:nvPr/>
      </p:nvGrpSpPr>
      <p:grpSpPr>
        <a:xfrm>
          <a:off x="0" y="0"/>
          <a:ext cx="0" cy="0"/>
          <a:chOff x="0" y="0"/>
          <a:chExt cx="0" cy="0"/>
        </a:xfrm>
      </p:grpSpPr>
      <p:sp>
        <p:nvSpPr>
          <p:cNvPr id="2" name="Shape 0"/>
          <p:cNvSpPr/>
          <p:nvPr/>
        </p:nvSpPr>
        <p:spPr>
          <a:xfrm>
            <a:off x="0" y="0"/>
            <a:ext cx="12192000" cy="50292"/>
          </a:xfrm>
          <a:prstGeom prst="rect">
            <a:avLst/>
          </a:prstGeom>
          <a:solidFill>
            <a:srgbClr val="49D2BF"/>
          </a:solidFill>
          <a:ln w="12700">
            <a:solidFill>
              <a:srgbClr val="49D2BF">
                <a:alpha val="0"/>
              </a:srgbClr>
            </a:solidFill>
            <a:prstDash val="solid"/>
          </a:ln>
        </p:spPr>
      </p:sp>
      <p:sp>
        <p:nvSpPr>
          <p:cNvPr id="25" name="Slide Number Placeholder 0"/>
          <p:cNvSpPr>
            <a:spLocks noGrp="1"/>
          </p:cNvSpPr>
          <p:nvPr>
            <p:ph type="sldNum" sz="quarter" idx="4294967295"/>
          </p:nvPr>
        </p:nvSpPr>
        <p:spPr>
          <a:xfrm>
            <a:off x="11137392" y="6455664"/>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8BDCD"/>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455664"/>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8BDCD"/>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13232" y="512064"/>
            <a:ext cx="6263640" cy="219456"/>
          </a:xfrm>
          <a:prstGeom prst="rect">
            <a:avLst/>
          </a:prstGeom>
          <a:noFill/>
          <a:ln/>
        </p:spPr>
        <p:txBody>
          <a:bodyPr wrap="square" lIns="0" tIns="0" rIns="0" bIns="0" rtlCol="0" anchor="ctr"/>
          <a:lstStyle/>
          <a:p>
            <a:pPr indent="0" marL="0">
              <a:buNone/>
            </a:pPr>
            <a:r>
              <a:rPr lang="en-US" sz="900" b="1" spc="140" kern="0" dirty="0">
                <a:solidFill>
                  <a:srgbClr val="49D2BF"/>
                </a:solidFill>
                <a:latin typeface="Aptos" pitchFamily="34" charset="0"/>
                <a:ea typeface="Aptos" pitchFamily="34" charset="-122"/>
                <a:cs typeface="Aptos" pitchFamily="34" charset="-120"/>
              </a:rPr>
              <a:t>ECPI UNIVERSITY   /   NOVEMBER 2026 FACULTY CONFERENCE</a:t>
            </a:r>
            <a:endParaRPr lang="en-US" sz="900" dirty="0"/>
          </a:p>
        </p:txBody>
      </p:sp>
      <p:sp>
        <p:nvSpPr>
          <p:cNvPr id="3" name="Text 1"/>
          <p:cNvSpPr/>
          <p:nvPr/>
        </p:nvSpPr>
        <p:spPr>
          <a:xfrm>
            <a:off x="713232" y="1234440"/>
            <a:ext cx="6428232" cy="2304288"/>
          </a:xfrm>
          <a:prstGeom prst="rect">
            <a:avLst/>
          </a:prstGeom>
          <a:noFill/>
          <a:ln/>
        </p:spPr>
        <p:txBody>
          <a:bodyPr wrap="square" lIns="0" tIns="0" rIns="0" bIns="0" rtlCol="0" anchor="t"/>
          <a:lstStyle/>
          <a:p>
            <a:pPr indent="0" marL="0">
              <a:lnSpc>
                <a:spcPct val="94000"/>
              </a:lnSpc>
              <a:buNone/>
            </a:pPr>
            <a:r>
              <a:rPr lang="en-US" sz="3500" b="1" dirty="0">
                <a:solidFill>
                  <a:srgbClr val="F5F8FA"/>
                </a:solidFill>
                <a:latin typeface="Aptos" pitchFamily="34" charset="0"/>
                <a:ea typeface="Aptos" pitchFamily="34" charset="-122"/>
                <a:cs typeface="Aptos" pitchFamily="34" charset="-120"/>
              </a:rPr>
              <a:t>The Future of</a:t>
            </a:r>
            <a:endParaRPr lang="en-US" sz="3500" dirty="0"/>
          </a:p>
          <a:p>
            <a:pPr indent="0" marL="0">
              <a:lnSpc>
                <a:spcPct val="94000"/>
              </a:lnSpc>
              <a:buNone/>
            </a:pPr>
            <a:r>
              <a:rPr lang="en-US" sz="3500" b="1" dirty="0">
                <a:solidFill>
                  <a:srgbClr val="F5F8FA"/>
                </a:solidFill>
                <a:latin typeface="Aptos" pitchFamily="34" charset="0"/>
                <a:ea typeface="Aptos" pitchFamily="34" charset="-122"/>
                <a:cs typeface="Aptos" pitchFamily="34" charset="-120"/>
              </a:rPr>
              <a:t>Software Development</a:t>
            </a:r>
            <a:endParaRPr lang="en-US" sz="3500" dirty="0"/>
          </a:p>
          <a:p>
            <a:pPr indent="0" marL="0">
              <a:lnSpc>
                <a:spcPct val="94000"/>
              </a:lnSpc>
              <a:buNone/>
            </a:pPr>
            <a:r>
              <a:rPr lang="en-US" sz="3500" b="1" dirty="0">
                <a:solidFill>
                  <a:srgbClr val="F5F8FA"/>
                </a:solidFill>
                <a:latin typeface="Aptos" pitchFamily="34" charset="0"/>
                <a:ea typeface="Aptos" pitchFamily="34" charset="-122"/>
                <a:cs typeface="Aptos" pitchFamily="34" charset="-120"/>
              </a:rPr>
              <a:t>at ECPI</a:t>
            </a:r>
            <a:endParaRPr lang="en-US" sz="3500" dirty="0"/>
          </a:p>
        </p:txBody>
      </p:sp>
      <p:sp>
        <p:nvSpPr>
          <p:cNvPr id="4" name="Shape 2"/>
          <p:cNvSpPr/>
          <p:nvPr/>
        </p:nvSpPr>
        <p:spPr>
          <a:xfrm>
            <a:off x="731520" y="3813048"/>
            <a:ext cx="566928" cy="50292"/>
          </a:xfrm>
          <a:prstGeom prst="rect">
            <a:avLst/>
          </a:prstGeom>
          <a:solidFill>
            <a:srgbClr val="49D2BF"/>
          </a:solidFill>
          <a:ln w="12700">
            <a:solidFill>
              <a:srgbClr val="49D2BF">
                <a:alpha val="0"/>
              </a:srgbClr>
            </a:solidFill>
            <a:prstDash val="solid"/>
          </a:ln>
        </p:spPr>
      </p:sp>
      <p:sp>
        <p:nvSpPr>
          <p:cNvPr id="5" name="Text 3"/>
          <p:cNvSpPr/>
          <p:nvPr/>
        </p:nvSpPr>
        <p:spPr>
          <a:xfrm>
            <a:off x="731520" y="4041648"/>
            <a:ext cx="6126480" cy="402336"/>
          </a:xfrm>
          <a:prstGeom prst="rect">
            <a:avLst/>
          </a:prstGeom>
          <a:noFill/>
          <a:ln/>
        </p:spPr>
        <p:txBody>
          <a:bodyPr wrap="square" lIns="0" tIns="0" rIns="0" bIns="0" rtlCol="0" anchor="ctr"/>
          <a:lstStyle/>
          <a:p>
            <a:pPr indent="0" marL="0">
              <a:buNone/>
            </a:pPr>
            <a:r>
              <a:rPr lang="en-US" sz="2100" b="1" dirty="0">
                <a:solidFill>
                  <a:srgbClr val="49D2BF"/>
                </a:solidFill>
                <a:latin typeface="Aptos" pitchFamily="34" charset="0"/>
                <a:ea typeface="Aptos" pitchFamily="34" charset="-122"/>
                <a:cs typeface="Aptos" pitchFamily="34" charset="-120"/>
              </a:rPr>
              <a:t>The Augmented Craftsman Model</a:t>
            </a:r>
            <a:endParaRPr lang="en-US" sz="2100" dirty="0"/>
          </a:p>
        </p:txBody>
      </p:sp>
      <p:sp>
        <p:nvSpPr>
          <p:cNvPr id="6" name="Text 4"/>
          <p:cNvSpPr/>
          <p:nvPr/>
        </p:nvSpPr>
        <p:spPr>
          <a:xfrm>
            <a:off x="731520" y="4690872"/>
            <a:ext cx="6263640" cy="804672"/>
          </a:xfrm>
          <a:prstGeom prst="rect">
            <a:avLst/>
          </a:prstGeom>
          <a:noFill/>
          <a:ln/>
        </p:spPr>
        <p:txBody>
          <a:bodyPr wrap="square" lIns="0" tIns="0" rIns="0" bIns="0" rtlCol="0" anchor="t"/>
          <a:lstStyle/>
          <a:p>
            <a:pPr indent="0" marL="0">
              <a:buNone/>
            </a:pPr>
            <a:r>
              <a:rPr lang="en-US" sz="1600" dirty="0">
                <a:solidFill>
                  <a:srgbClr val="A8BDCD"/>
                </a:solidFill>
                <a:latin typeface="Aptos" pitchFamily="34" charset="0"/>
                <a:ea typeface="Aptos" pitchFamily="34" charset="-122"/>
                <a:cs typeface="Aptos" pitchFamily="34" charset="-120"/>
              </a:rPr>
              <a:t>Preserving the craft. Embracing the tools.</a:t>
            </a:r>
            <a:endParaRPr lang="en-US" sz="1600" dirty="0"/>
          </a:p>
          <a:p>
            <a:pPr indent="0" marL="0">
              <a:buNone/>
            </a:pPr>
            <a:r>
              <a:rPr lang="en-US" sz="1600" dirty="0">
                <a:solidFill>
                  <a:srgbClr val="A8BDCD"/>
                </a:solidFill>
                <a:latin typeface="Aptos" pitchFamily="34" charset="0"/>
                <a:ea typeface="Aptos" pitchFamily="34" charset="-122"/>
                <a:cs typeface="Aptos" pitchFamily="34" charset="-120"/>
              </a:rPr>
              <a:t>Preparing the next generation.</a:t>
            </a:r>
            <a:endParaRPr lang="en-US" sz="1600" dirty="0"/>
          </a:p>
        </p:txBody>
      </p:sp>
      <p:sp>
        <p:nvSpPr>
          <p:cNvPr id="7" name="Text 5"/>
          <p:cNvSpPr/>
          <p:nvPr/>
        </p:nvSpPr>
        <p:spPr>
          <a:xfrm>
            <a:off x="731520" y="6007608"/>
            <a:ext cx="5852160" cy="228600"/>
          </a:xfrm>
          <a:prstGeom prst="rect">
            <a:avLst/>
          </a:prstGeom>
          <a:noFill/>
          <a:ln/>
        </p:spPr>
        <p:txBody>
          <a:bodyPr wrap="square" lIns="0" tIns="0" rIns="0" bIns="0" rtlCol="0" anchor="ctr"/>
          <a:lstStyle/>
          <a:p>
            <a:pPr indent="0" marL="0">
              <a:buNone/>
            </a:pPr>
            <a:r>
              <a:rPr lang="en-US" sz="900" b="1" spc="110" kern="0" dirty="0">
                <a:solidFill>
                  <a:srgbClr val="A8BDCD"/>
                </a:solidFill>
                <a:latin typeface="Aptos" pitchFamily="34" charset="0"/>
                <a:ea typeface="Aptos" pitchFamily="34" charset="-122"/>
                <a:cs typeface="Aptos" pitchFamily="34" charset="-120"/>
              </a:rPr>
              <a:t>NOVEMBER 2026   /   FACULTY CONFERENCE</a:t>
            </a:r>
            <a:endParaRPr lang="en-US" sz="900" dirty="0"/>
          </a:p>
        </p:txBody>
      </p:sp>
      <p:sp>
        <p:nvSpPr>
          <p:cNvPr id="8" name="Shape 6"/>
          <p:cNvSpPr/>
          <p:nvPr/>
        </p:nvSpPr>
        <p:spPr>
          <a:xfrm>
            <a:off x="7360920" y="804672"/>
            <a:ext cx="4160520" cy="5138928"/>
          </a:xfrm>
          <a:prstGeom prst="roundRect">
            <a:avLst>
              <a:gd name="adj" fmla="val 1758"/>
            </a:avLst>
          </a:prstGeom>
          <a:solidFill>
            <a:srgbClr val="102A40"/>
          </a:solidFill>
          <a:ln w="12700">
            <a:solidFill>
              <a:srgbClr val="102A40">
                <a:alpha val="0"/>
              </a:srgbClr>
            </a:solidFill>
            <a:prstDash val="solid"/>
          </a:ln>
        </p:spPr>
      </p:sp>
      <p:sp>
        <p:nvSpPr>
          <p:cNvPr id="9" name="Shape 7"/>
          <p:cNvSpPr/>
          <p:nvPr/>
        </p:nvSpPr>
        <p:spPr>
          <a:xfrm>
            <a:off x="7671816" y="1060704"/>
            <a:ext cx="77724" cy="77724"/>
          </a:xfrm>
          <a:prstGeom prst="ellipse">
            <a:avLst/>
          </a:prstGeom>
          <a:solidFill>
            <a:srgbClr val="49D2BF"/>
          </a:solidFill>
          <a:ln w="12700">
            <a:solidFill>
              <a:srgbClr val="49D2BF">
                <a:alpha val="0"/>
              </a:srgbClr>
            </a:solidFill>
            <a:prstDash val="solid"/>
          </a:ln>
        </p:spPr>
      </p:sp>
      <p:sp>
        <p:nvSpPr>
          <p:cNvPr id="10" name="Shape 8"/>
          <p:cNvSpPr/>
          <p:nvPr/>
        </p:nvSpPr>
        <p:spPr>
          <a:xfrm>
            <a:off x="7854696" y="1060704"/>
            <a:ext cx="77724" cy="77724"/>
          </a:xfrm>
          <a:prstGeom prst="ellipse">
            <a:avLst/>
          </a:prstGeom>
          <a:solidFill>
            <a:srgbClr val="7DAFFF"/>
          </a:solidFill>
          <a:ln w="12700">
            <a:solidFill>
              <a:srgbClr val="7DAFFF">
                <a:alpha val="0"/>
              </a:srgbClr>
            </a:solidFill>
            <a:prstDash val="solid"/>
          </a:ln>
        </p:spPr>
      </p:sp>
      <p:sp>
        <p:nvSpPr>
          <p:cNvPr id="11" name="Shape 9"/>
          <p:cNvSpPr/>
          <p:nvPr/>
        </p:nvSpPr>
        <p:spPr>
          <a:xfrm>
            <a:off x="8037576" y="1060704"/>
            <a:ext cx="77724" cy="77724"/>
          </a:xfrm>
          <a:prstGeom prst="ellipse">
            <a:avLst/>
          </a:prstGeom>
          <a:solidFill>
            <a:srgbClr val="F4BD62"/>
          </a:solidFill>
          <a:ln w="12700">
            <a:solidFill>
              <a:srgbClr val="F4BD62">
                <a:alpha val="0"/>
              </a:srgbClr>
            </a:solidFill>
            <a:prstDash val="solid"/>
          </a:ln>
        </p:spPr>
      </p:sp>
      <p:sp>
        <p:nvSpPr>
          <p:cNvPr id="12" name="Text 10"/>
          <p:cNvSpPr/>
          <p:nvPr/>
        </p:nvSpPr>
        <p:spPr>
          <a:xfrm>
            <a:off x="8275320" y="1005840"/>
            <a:ext cx="2816352" cy="173736"/>
          </a:xfrm>
          <a:prstGeom prst="rect">
            <a:avLst/>
          </a:prstGeom>
          <a:noFill/>
          <a:ln/>
        </p:spPr>
        <p:txBody>
          <a:bodyPr wrap="square" lIns="0" tIns="0" rIns="0" bIns="0" rtlCol="0" anchor="ctr"/>
          <a:lstStyle/>
          <a:p>
            <a:pPr algn="r" indent="0" marL="0">
              <a:buNone/>
            </a:pPr>
            <a:r>
              <a:rPr lang="en-US" sz="800" b="1" spc="110" kern="0" dirty="0">
                <a:solidFill>
                  <a:srgbClr val="A8BDCD"/>
                </a:solidFill>
                <a:latin typeface="Aptos" pitchFamily="34" charset="0"/>
                <a:ea typeface="Aptos" pitchFamily="34" charset="-122"/>
                <a:cs typeface="Aptos" pitchFamily="34" charset="-120"/>
              </a:rPr>
              <a:t>A PRACTICE, NOT A SHORTCUT</a:t>
            </a:r>
            <a:endParaRPr lang="en-US" sz="800" dirty="0"/>
          </a:p>
        </p:txBody>
      </p:sp>
      <p:sp>
        <p:nvSpPr>
          <p:cNvPr id="13" name="Shape 11"/>
          <p:cNvSpPr/>
          <p:nvPr/>
        </p:nvSpPr>
        <p:spPr>
          <a:xfrm>
            <a:off x="7680960" y="1435608"/>
            <a:ext cx="3520440" cy="0"/>
          </a:xfrm>
          <a:prstGeom prst="line">
            <a:avLst/>
          </a:prstGeom>
          <a:noFill/>
          <a:ln w="12700">
            <a:solidFill>
              <a:srgbClr val="294A60"/>
            </a:solidFill>
            <a:prstDash val="solid"/>
            <a:headEnd type="none"/>
            <a:tailEnd type="none"/>
          </a:ln>
        </p:spPr>
      </p:sp>
      <p:sp>
        <p:nvSpPr>
          <p:cNvPr id="14" name="Text 12"/>
          <p:cNvSpPr/>
          <p:nvPr/>
        </p:nvSpPr>
        <p:spPr>
          <a:xfrm>
            <a:off x="7708392" y="1773936"/>
            <a:ext cx="3383280" cy="310896"/>
          </a:xfrm>
          <a:prstGeom prst="rect">
            <a:avLst/>
          </a:prstGeom>
          <a:noFill/>
          <a:ln/>
        </p:spPr>
        <p:txBody>
          <a:bodyPr wrap="square" lIns="0" tIns="0" rIns="0" bIns="0" rtlCol="0" anchor="ctr"/>
          <a:lstStyle/>
          <a:p>
            <a:pPr indent="0" marL="0">
              <a:buNone/>
            </a:pPr>
            <a:r>
              <a:rPr lang="en-US" sz="1200" dirty="0">
                <a:solidFill>
                  <a:srgbClr val="A8BDCD"/>
                </a:solidFill>
                <a:latin typeface="Aptos Mono" pitchFamily="34" charset="0"/>
                <a:ea typeface="Aptos Mono" pitchFamily="34" charset="-122"/>
                <a:cs typeface="Aptos Mono" pitchFamily="34" charset="-120"/>
              </a:rPr>
              <a:t>intent  /  design  /  build</a:t>
            </a:r>
            <a:endParaRPr lang="en-US" sz="1200" dirty="0"/>
          </a:p>
        </p:txBody>
      </p:sp>
      <p:sp>
        <p:nvSpPr>
          <p:cNvPr id="15" name="Text 13"/>
          <p:cNvSpPr/>
          <p:nvPr/>
        </p:nvSpPr>
        <p:spPr>
          <a:xfrm>
            <a:off x="7708392" y="2359152"/>
            <a:ext cx="1965960" cy="393192"/>
          </a:xfrm>
          <a:prstGeom prst="rect">
            <a:avLst/>
          </a:prstGeom>
          <a:noFill/>
          <a:ln/>
        </p:spPr>
        <p:txBody>
          <a:bodyPr wrap="square" lIns="0" tIns="0" rIns="0" bIns="0" rtlCol="0" anchor="ctr"/>
          <a:lstStyle/>
          <a:p>
            <a:pPr indent="0" marL="0">
              <a:buNone/>
            </a:pPr>
            <a:r>
              <a:rPr lang="en-US" sz="2000" b="1" dirty="0">
                <a:solidFill>
                  <a:srgbClr val="F5F8FA"/>
                </a:solidFill>
                <a:latin typeface="Aptos Mono" pitchFamily="34" charset="0"/>
                <a:ea typeface="Aptos Mono" pitchFamily="34" charset="-122"/>
                <a:cs typeface="Aptos Mono" pitchFamily="34" charset="-120"/>
              </a:rPr>
              <a:t>judgment()</a:t>
            </a:r>
            <a:endParaRPr lang="en-US" sz="2000" dirty="0"/>
          </a:p>
        </p:txBody>
      </p:sp>
      <p:sp>
        <p:nvSpPr>
          <p:cNvPr id="16" name="Shape 14"/>
          <p:cNvSpPr/>
          <p:nvPr/>
        </p:nvSpPr>
        <p:spPr>
          <a:xfrm>
            <a:off x="9683496" y="2514600"/>
            <a:ext cx="621792" cy="41148"/>
          </a:xfrm>
          <a:prstGeom prst="rect">
            <a:avLst/>
          </a:prstGeom>
          <a:solidFill>
            <a:srgbClr val="49D2BF"/>
          </a:solidFill>
          <a:ln w="12700">
            <a:solidFill>
              <a:srgbClr val="49D2BF">
                <a:alpha val="0"/>
              </a:srgbClr>
            </a:solidFill>
            <a:prstDash val="solid"/>
          </a:ln>
        </p:spPr>
      </p:sp>
      <p:sp>
        <p:nvSpPr>
          <p:cNvPr id="17" name="Text 15"/>
          <p:cNvSpPr/>
          <p:nvPr/>
        </p:nvSpPr>
        <p:spPr>
          <a:xfrm>
            <a:off x="8229600" y="3072384"/>
            <a:ext cx="1371600" cy="356616"/>
          </a:xfrm>
          <a:prstGeom prst="rect">
            <a:avLst/>
          </a:prstGeom>
          <a:noFill/>
          <a:ln/>
        </p:spPr>
        <p:txBody>
          <a:bodyPr wrap="square" lIns="0" tIns="0" rIns="0" bIns="0" rtlCol="0" anchor="ctr"/>
          <a:lstStyle/>
          <a:p>
            <a:pPr indent="0" marL="0">
              <a:buNone/>
            </a:pPr>
            <a:r>
              <a:rPr lang="en-US" sz="1800" b="1" dirty="0">
                <a:solidFill>
                  <a:srgbClr val="7DAFFF"/>
                </a:solidFill>
                <a:latin typeface="Aptos Mono" pitchFamily="34" charset="0"/>
                <a:ea typeface="Aptos Mono" pitchFamily="34" charset="-122"/>
                <a:cs typeface="Aptos Mono" pitchFamily="34" charset="-120"/>
              </a:rPr>
              <a:t>test()</a:t>
            </a:r>
            <a:endParaRPr lang="en-US" sz="1800" dirty="0"/>
          </a:p>
        </p:txBody>
      </p:sp>
      <p:sp>
        <p:nvSpPr>
          <p:cNvPr id="18" name="Shape 16"/>
          <p:cNvSpPr/>
          <p:nvPr/>
        </p:nvSpPr>
        <p:spPr>
          <a:xfrm>
            <a:off x="9601200" y="3227832"/>
            <a:ext cx="457200" cy="36576"/>
          </a:xfrm>
          <a:prstGeom prst="rect">
            <a:avLst/>
          </a:prstGeom>
          <a:solidFill>
            <a:srgbClr val="7DAFFF"/>
          </a:solidFill>
          <a:ln w="12700">
            <a:solidFill>
              <a:srgbClr val="7DAFFF">
                <a:alpha val="0"/>
              </a:srgbClr>
            </a:solidFill>
            <a:prstDash val="solid"/>
          </a:ln>
        </p:spPr>
      </p:sp>
      <p:sp>
        <p:nvSpPr>
          <p:cNvPr id="19" name="Text 17"/>
          <p:cNvSpPr/>
          <p:nvPr/>
        </p:nvSpPr>
        <p:spPr>
          <a:xfrm>
            <a:off x="8750808" y="3776472"/>
            <a:ext cx="1554480" cy="356616"/>
          </a:xfrm>
          <a:prstGeom prst="rect">
            <a:avLst/>
          </a:prstGeom>
          <a:noFill/>
          <a:ln/>
        </p:spPr>
        <p:txBody>
          <a:bodyPr wrap="square" lIns="0" tIns="0" rIns="0" bIns="0" rtlCol="0" anchor="ctr"/>
          <a:lstStyle/>
          <a:p>
            <a:pPr indent="0" marL="0">
              <a:buNone/>
            </a:pPr>
            <a:r>
              <a:rPr lang="en-US" sz="1800" b="1" dirty="0">
                <a:solidFill>
                  <a:srgbClr val="F4BD62"/>
                </a:solidFill>
                <a:latin typeface="Aptos Mono" pitchFamily="34" charset="0"/>
                <a:ea typeface="Aptos Mono" pitchFamily="34" charset="-122"/>
                <a:cs typeface="Aptos Mono" pitchFamily="34" charset="-120"/>
              </a:rPr>
              <a:t>refine()</a:t>
            </a:r>
            <a:endParaRPr lang="en-US" sz="1800" dirty="0"/>
          </a:p>
        </p:txBody>
      </p:sp>
      <p:sp>
        <p:nvSpPr>
          <p:cNvPr id="20" name="Shape 18"/>
          <p:cNvSpPr/>
          <p:nvPr/>
        </p:nvSpPr>
        <p:spPr>
          <a:xfrm>
            <a:off x="10332720" y="3931920"/>
            <a:ext cx="502920" cy="36576"/>
          </a:xfrm>
          <a:prstGeom prst="rect">
            <a:avLst/>
          </a:prstGeom>
          <a:solidFill>
            <a:srgbClr val="F4BD62"/>
          </a:solidFill>
          <a:ln w="12700">
            <a:solidFill>
              <a:srgbClr val="F4BD62">
                <a:alpha val="0"/>
              </a:srgbClr>
            </a:solidFill>
            <a:prstDash val="solid"/>
          </a:ln>
        </p:spPr>
      </p:sp>
      <p:sp>
        <p:nvSpPr>
          <p:cNvPr id="21" name="Shape 19"/>
          <p:cNvSpPr/>
          <p:nvPr/>
        </p:nvSpPr>
        <p:spPr>
          <a:xfrm>
            <a:off x="7882128" y="2834640"/>
            <a:ext cx="0" cy="1170432"/>
          </a:xfrm>
          <a:prstGeom prst="line">
            <a:avLst/>
          </a:prstGeom>
          <a:noFill/>
          <a:ln w="19050">
            <a:solidFill>
              <a:srgbClr val="294A60"/>
            </a:solidFill>
            <a:prstDash val="solid"/>
            <a:headEnd type="none"/>
            <a:tailEnd type="none"/>
          </a:ln>
        </p:spPr>
      </p:sp>
      <p:sp>
        <p:nvSpPr>
          <p:cNvPr id="22" name="Shape 20"/>
          <p:cNvSpPr/>
          <p:nvPr/>
        </p:nvSpPr>
        <p:spPr>
          <a:xfrm>
            <a:off x="7818120" y="2761488"/>
            <a:ext cx="128016" cy="128016"/>
          </a:xfrm>
          <a:prstGeom prst="ellipse">
            <a:avLst/>
          </a:prstGeom>
          <a:solidFill>
            <a:srgbClr val="49D2BF"/>
          </a:solidFill>
          <a:ln w="12700">
            <a:solidFill>
              <a:srgbClr val="49D2BF">
                <a:alpha val="0"/>
              </a:srgbClr>
            </a:solidFill>
            <a:prstDash val="solid"/>
          </a:ln>
        </p:spPr>
      </p:sp>
      <p:sp>
        <p:nvSpPr>
          <p:cNvPr id="23" name="Shape 21"/>
          <p:cNvSpPr/>
          <p:nvPr/>
        </p:nvSpPr>
        <p:spPr>
          <a:xfrm>
            <a:off x="7818120" y="3346704"/>
            <a:ext cx="128016" cy="128016"/>
          </a:xfrm>
          <a:prstGeom prst="ellipse">
            <a:avLst/>
          </a:prstGeom>
          <a:solidFill>
            <a:srgbClr val="7DAFFF"/>
          </a:solidFill>
          <a:ln w="12700">
            <a:solidFill>
              <a:srgbClr val="7DAFFF">
                <a:alpha val="0"/>
              </a:srgbClr>
            </a:solidFill>
            <a:prstDash val="solid"/>
          </a:ln>
        </p:spPr>
      </p:sp>
      <p:sp>
        <p:nvSpPr>
          <p:cNvPr id="24" name="Shape 22"/>
          <p:cNvSpPr/>
          <p:nvPr/>
        </p:nvSpPr>
        <p:spPr>
          <a:xfrm>
            <a:off x="7818120" y="3950208"/>
            <a:ext cx="128016" cy="128016"/>
          </a:xfrm>
          <a:prstGeom prst="ellipse">
            <a:avLst/>
          </a:prstGeom>
          <a:solidFill>
            <a:srgbClr val="F4BD62"/>
          </a:solidFill>
          <a:ln w="12700">
            <a:solidFill>
              <a:srgbClr val="F4BD62">
                <a:alpha val="0"/>
              </a:srgbClr>
            </a:solidFill>
            <a:prstDash val="solid"/>
          </a:ln>
        </p:spPr>
      </p:sp>
      <p:sp>
        <p:nvSpPr>
          <p:cNvPr id="25" name="Shape 23"/>
          <p:cNvSpPr/>
          <p:nvPr/>
        </p:nvSpPr>
        <p:spPr>
          <a:xfrm>
            <a:off x="7680960" y="4507992"/>
            <a:ext cx="3520440" cy="0"/>
          </a:xfrm>
          <a:prstGeom prst="line">
            <a:avLst/>
          </a:prstGeom>
          <a:noFill/>
          <a:ln w="12700">
            <a:solidFill>
              <a:srgbClr val="294A60"/>
            </a:solidFill>
            <a:prstDash val="solid"/>
            <a:headEnd type="none"/>
            <a:tailEnd type="none"/>
          </a:ln>
        </p:spPr>
      </p:sp>
      <p:sp>
        <p:nvSpPr>
          <p:cNvPr id="26" name="Text 24"/>
          <p:cNvSpPr/>
          <p:nvPr/>
        </p:nvSpPr>
        <p:spPr>
          <a:xfrm>
            <a:off x="7708392" y="4828032"/>
            <a:ext cx="3520440" cy="219456"/>
          </a:xfrm>
          <a:prstGeom prst="rect">
            <a:avLst/>
          </a:prstGeom>
          <a:noFill/>
          <a:ln/>
        </p:spPr>
        <p:txBody>
          <a:bodyPr wrap="square" lIns="0" tIns="0" rIns="0" bIns="0" rtlCol="0" anchor="ctr"/>
          <a:lstStyle/>
          <a:p>
            <a:pPr indent="0" marL="0">
              <a:buNone/>
            </a:pPr>
            <a:r>
              <a:rPr lang="en-US" sz="900" b="1" spc="80" kern="0" dirty="0">
                <a:solidFill>
                  <a:srgbClr val="49D2BF"/>
                </a:solidFill>
                <a:latin typeface="Aptos" pitchFamily="34" charset="0"/>
                <a:ea typeface="Aptos" pitchFamily="34" charset="-122"/>
                <a:cs typeface="Aptos" pitchFamily="34" charset="-120"/>
              </a:rPr>
              <a:t>CAPABILITY GROWS THROUGH PRACTICE</a:t>
            </a:r>
            <a:endParaRPr lang="en-US" sz="900" dirty="0"/>
          </a:p>
        </p:txBody>
      </p:sp>
      <p:sp>
        <p:nvSpPr>
          <p:cNvPr id="27" name="Text 25"/>
          <p:cNvSpPr/>
          <p:nvPr/>
        </p:nvSpPr>
        <p:spPr>
          <a:xfrm>
            <a:off x="7708392" y="5157216"/>
            <a:ext cx="3429000" cy="475488"/>
          </a:xfrm>
          <a:prstGeom prst="rect">
            <a:avLst/>
          </a:prstGeom>
          <a:noFill/>
          <a:ln/>
        </p:spPr>
        <p:txBody>
          <a:bodyPr wrap="square" lIns="0" tIns="0" rIns="0" bIns="0" rtlCol="0" anchor="t"/>
          <a:lstStyle/>
          <a:p>
            <a:pPr indent="0" marL="0">
              <a:buNone/>
            </a:pPr>
            <a:r>
              <a:rPr lang="en-US" sz="1200" dirty="0">
                <a:solidFill>
                  <a:srgbClr val="A8BDCD"/>
                </a:solidFill>
                <a:latin typeface="Aptos" pitchFamily="34" charset="0"/>
                <a:ea typeface="Aptos" pitchFamily="34" charset="-122"/>
                <a:cs typeface="Aptos" pitchFamily="34" charset="-120"/>
              </a:rPr>
              <a:t>Human craft, strengthened by the right tools.</a:t>
            </a:r>
            <a:endParaRPr lang="en-US" sz="1200" dirty="0"/>
          </a:p>
        </p:txBody>
      </p:sp>
      <p:sp>
        <p:nvSpPr>
          <p:cNvPr id="25" name="Slide Number Placeholder 0"/>
          <p:cNvSpPr>
            <a:spLocks noGrp="1"/>
          </p:cNvSpPr>
          <p:nvPr>
            <p:ph type="sldNum" sz="quarter" idx="4294967295"/>
          </p:nvPr>
        </p:nvSpPr>
        <p:spPr>
          <a:xfrm>
            <a:off x="11137392" y="6455664"/>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8BDCD"/>
                </a:solidFill>
                <a:latin typeface="Aptos"/>
                <a:ea typeface="Aptos"/>
                <a:cs typeface="Apto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283464"/>
            <a:ext cx="9509760" cy="201168"/>
          </a:xfrm>
          <a:prstGeom prst="rect">
            <a:avLst/>
          </a:prstGeom>
          <a:noFill/>
          <a:ln/>
        </p:spPr>
        <p:txBody>
          <a:bodyPr wrap="square" lIns="0" tIns="0" rIns="0" bIns="0" rtlCol="0" anchor="ctr"/>
          <a:lstStyle/>
          <a:p>
            <a:pPr indent="0" marL="0">
              <a:buNone/>
            </a:pPr>
            <a:r>
              <a:rPr lang="en-US" sz="900" b="1" spc="150" kern="0" dirty="0">
                <a:solidFill>
                  <a:srgbClr val="49D2BF"/>
                </a:solidFill>
                <a:latin typeface="Aptos" pitchFamily="34" charset="0"/>
                <a:ea typeface="Aptos" pitchFamily="34" charset="-122"/>
                <a:cs typeface="Aptos" pitchFamily="34" charset="-120"/>
              </a:rPr>
              <a:t>ECPI UNIVERSITY   /   FACULTY CONFERENCE   /   THE CASE FOR CHANGE</a:t>
            </a:r>
            <a:endParaRPr lang="en-US" sz="900" dirty="0"/>
          </a:p>
        </p:txBody>
      </p:sp>
      <p:sp>
        <p:nvSpPr>
          <p:cNvPr id="3" name="Text 1"/>
          <p:cNvSpPr/>
          <p:nvPr/>
        </p:nvSpPr>
        <p:spPr>
          <a:xfrm>
            <a:off x="10835640" y="283464"/>
            <a:ext cx="713232" cy="201168"/>
          </a:xfrm>
          <a:prstGeom prst="rect">
            <a:avLst/>
          </a:prstGeom>
          <a:noFill/>
          <a:ln/>
        </p:spPr>
        <p:txBody>
          <a:bodyPr wrap="square" lIns="0" tIns="0" rIns="0" bIns="0" rtlCol="0" anchor="ctr"/>
          <a:lstStyle/>
          <a:p>
            <a:pPr algn="r" indent="0" marL="0">
              <a:buNone/>
            </a:pPr>
            <a:r>
              <a:rPr lang="en-US" sz="900" b="1" dirty="0">
                <a:solidFill>
                  <a:srgbClr val="A8BDCD"/>
                </a:solidFill>
                <a:latin typeface="Aptos" pitchFamily="34" charset="0"/>
                <a:ea typeface="Aptos" pitchFamily="34" charset="-122"/>
                <a:cs typeface="Aptos" pitchFamily="34" charset="-120"/>
              </a:rPr>
              <a:t>02  /  08</a:t>
            </a:r>
            <a:endParaRPr lang="en-US" sz="900" dirty="0"/>
          </a:p>
        </p:txBody>
      </p:sp>
      <p:sp>
        <p:nvSpPr>
          <p:cNvPr id="4" name="Text 2"/>
          <p:cNvSpPr/>
          <p:nvPr/>
        </p:nvSpPr>
        <p:spPr>
          <a:xfrm>
            <a:off x="658368" y="694944"/>
            <a:ext cx="10881360" cy="557784"/>
          </a:xfrm>
          <a:prstGeom prst="rect">
            <a:avLst/>
          </a:prstGeom>
          <a:noFill/>
          <a:ln/>
        </p:spPr>
        <p:txBody>
          <a:bodyPr wrap="square" lIns="0" tIns="0" rIns="0" bIns="0" rtlCol="0" anchor="ctr"/>
          <a:lstStyle/>
          <a:p>
            <a:pPr indent="0" marL="0">
              <a:buNone/>
            </a:pPr>
            <a:r>
              <a:rPr lang="en-US" sz="2900" b="1" dirty="0">
                <a:solidFill>
                  <a:srgbClr val="F5F8FA"/>
                </a:solidFill>
                <a:latin typeface="Aptos" pitchFamily="34" charset="0"/>
                <a:ea typeface="Aptos" pitchFamily="34" charset="-122"/>
                <a:cs typeface="Aptos" pitchFamily="34" charset="-120"/>
              </a:rPr>
              <a:t>Why We Are Evolving</a:t>
            </a:r>
            <a:endParaRPr lang="en-US" sz="2900" dirty="0"/>
          </a:p>
        </p:txBody>
      </p:sp>
      <p:sp>
        <p:nvSpPr>
          <p:cNvPr id="5" name="Text 3"/>
          <p:cNvSpPr/>
          <p:nvPr/>
        </p:nvSpPr>
        <p:spPr>
          <a:xfrm>
            <a:off x="676656" y="1307592"/>
            <a:ext cx="10332720" cy="320040"/>
          </a:xfrm>
          <a:prstGeom prst="rect">
            <a:avLst/>
          </a:prstGeom>
          <a:noFill/>
          <a:ln/>
        </p:spPr>
        <p:txBody>
          <a:bodyPr wrap="square" lIns="0" tIns="0" rIns="0" bIns="0" rtlCol="0" anchor="ctr"/>
          <a:lstStyle/>
          <a:p>
            <a:pPr indent="0" marL="0">
              <a:buNone/>
            </a:pPr>
            <a:r>
              <a:rPr lang="en-US" sz="1300" dirty="0">
                <a:solidFill>
                  <a:srgbClr val="A8BDCD"/>
                </a:solidFill>
                <a:latin typeface="Aptos" pitchFamily="34" charset="0"/>
                <a:ea typeface="Aptos" pitchFamily="34" charset="-122"/>
                <a:cs typeface="Aptos" pitchFamily="34" charset="-120"/>
              </a:rPr>
              <a:t>Software development education must evolve with the profession.</a:t>
            </a:r>
            <a:endParaRPr lang="en-US" sz="1300" dirty="0"/>
          </a:p>
        </p:txBody>
      </p:sp>
      <p:sp>
        <p:nvSpPr>
          <p:cNvPr id="6" name="Shape 4"/>
          <p:cNvSpPr/>
          <p:nvPr/>
        </p:nvSpPr>
        <p:spPr>
          <a:xfrm>
            <a:off x="667512" y="1856232"/>
            <a:ext cx="3401568" cy="2240280"/>
          </a:xfrm>
          <a:prstGeom prst="roundRect">
            <a:avLst>
              <a:gd name="adj" fmla="val 3265"/>
            </a:avLst>
          </a:prstGeom>
          <a:solidFill>
            <a:srgbClr val="102A40"/>
          </a:solidFill>
          <a:ln w="12700">
            <a:solidFill>
              <a:srgbClr val="102A40">
                <a:alpha val="0"/>
              </a:srgbClr>
            </a:solidFill>
            <a:prstDash val="solid"/>
          </a:ln>
        </p:spPr>
      </p:sp>
      <p:sp>
        <p:nvSpPr>
          <p:cNvPr id="7" name="Text 5"/>
          <p:cNvSpPr/>
          <p:nvPr/>
        </p:nvSpPr>
        <p:spPr>
          <a:xfrm>
            <a:off x="905256" y="2075688"/>
            <a:ext cx="640080" cy="457200"/>
          </a:xfrm>
          <a:prstGeom prst="rect">
            <a:avLst/>
          </a:prstGeom>
          <a:noFill/>
          <a:ln/>
        </p:spPr>
        <p:txBody>
          <a:bodyPr wrap="square" lIns="0" tIns="0" rIns="0" bIns="0" rtlCol="0" anchor="ctr"/>
          <a:lstStyle/>
          <a:p>
            <a:pPr indent="0" marL="0">
              <a:buNone/>
            </a:pPr>
            <a:r>
              <a:rPr lang="en-US" sz="2500" b="1" dirty="0">
                <a:solidFill>
                  <a:srgbClr val="49D2BF"/>
                </a:solidFill>
                <a:latin typeface="Aptos" pitchFamily="34" charset="0"/>
                <a:ea typeface="Aptos" pitchFamily="34" charset="-122"/>
                <a:cs typeface="Aptos" pitchFamily="34" charset="-120"/>
              </a:rPr>
              <a:t>01</a:t>
            </a:r>
            <a:endParaRPr lang="en-US" sz="2500" dirty="0"/>
          </a:p>
        </p:txBody>
      </p:sp>
      <p:sp>
        <p:nvSpPr>
          <p:cNvPr id="8" name="Shape 6"/>
          <p:cNvSpPr/>
          <p:nvPr/>
        </p:nvSpPr>
        <p:spPr>
          <a:xfrm>
            <a:off x="914400" y="2670048"/>
            <a:ext cx="448056" cy="41148"/>
          </a:xfrm>
          <a:prstGeom prst="rect">
            <a:avLst/>
          </a:prstGeom>
          <a:solidFill>
            <a:srgbClr val="49D2BF"/>
          </a:solidFill>
          <a:ln w="12700">
            <a:solidFill>
              <a:srgbClr val="49D2BF">
                <a:alpha val="0"/>
              </a:srgbClr>
            </a:solidFill>
            <a:prstDash val="solid"/>
          </a:ln>
        </p:spPr>
      </p:sp>
      <p:sp>
        <p:nvSpPr>
          <p:cNvPr id="9" name="Text 7"/>
          <p:cNvSpPr/>
          <p:nvPr/>
        </p:nvSpPr>
        <p:spPr>
          <a:xfrm>
            <a:off x="914400" y="2852928"/>
            <a:ext cx="2834640" cy="603504"/>
          </a:xfrm>
          <a:prstGeom prst="rect">
            <a:avLst/>
          </a:prstGeom>
          <a:noFill/>
          <a:ln/>
        </p:spPr>
        <p:txBody>
          <a:bodyPr wrap="square" lIns="0" tIns="0" rIns="0" bIns="0" rtlCol="0" anchor="t"/>
          <a:lstStyle/>
          <a:p>
            <a:pPr indent="0" marL="0">
              <a:buNone/>
            </a:pPr>
            <a:r>
              <a:rPr lang="en-US" sz="1900" b="1" dirty="0">
                <a:solidFill>
                  <a:srgbClr val="F5F8FA"/>
                </a:solidFill>
                <a:latin typeface="Aptos" pitchFamily="34" charset="0"/>
                <a:ea typeface="Aptos" pitchFamily="34" charset="-122"/>
                <a:cs typeface="Aptos" pitchFamily="34" charset="-120"/>
              </a:rPr>
              <a:t>AI changes</a:t>
            </a:r>
            <a:endParaRPr lang="en-US" sz="1900" dirty="0"/>
          </a:p>
          <a:p>
            <a:pPr indent="0" marL="0">
              <a:buNone/>
            </a:pPr>
            <a:r>
              <a:rPr lang="en-US" sz="1900" b="1" dirty="0">
                <a:solidFill>
                  <a:srgbClr val="F5F8FA"/>
                </a:solidFill>
                <a:latin typeface="Aptos" pitchFamily="34" charset="0"/>
                <a:ea typeface="Aptos" pitchFamily="34" charset="-122"/>
                <a:cs typeface="Aptos" pitchFamily="34" charset="-120"/>
              </a:rPr>
              <a:t>the workflow</a:t>
            </a:r>
            <a:endParaRPr lang="en-US" sz="1900" dirty="0"/>
          </a:p>
        </p:txBody>
      </p:sp>
      <p:sp>
        <p:nvSpPr>
          <p:cNvPr id="10" name="Text 8"/>
          <p:cNvSpPr/>
          <p:nvPr/>
        </p:nvSpPr>
        <p:spPr>
          <a:xfrm>
            <a:off x="914400" y="3529584"/>
            <a:ext cx="2871216" cy="402336"/>
          </a:xfrm>
          <a:prstGeom prst="rect">
            <a:avLst/>
          </a:prstGeom>
          <a:noFill/>
          <a:ln/>
        </p:spPr>
        <p:txBody>
          <a:bodyPr wrap="square" lIns="0" tIns="0" rIns="0" bIns="0" rtlCol="0" anchor="t"/>
          <a:lstStyle/>
          <a:p>
            <a:pPr indent="0" marL="0">
              <a:buNone/>
            </a:pPr>
            <a:r>
              <a:rPr lang="en-US" sz="1050" dirty="0">
                <a:solidFill>
                  <a:srgbClr val="A8BDCD"/>
                </a:solidFill>
                <a:latin typeface="Aptos" pitchFamily="34" charset="0"/>
                <a:ea typeface="Aptos" pitchFamily="34" charset="-122"/>
                <a:cs typeface="Aptos" pitchFamily="34" charset="-120"/>
              </a:rPr>
              <a:t>Developers are learning to work with AI-assisted tools, not just write code by hand.</a:t>
            </a:r>
            <a:endParaRPr lang="en-US" sz="1050" dirty="0"/>
          </a:p>
        </p:txBody>
      </p:sp>
      <p:sp>
        <p:nvSpPr>
          <p:cNvPr id="11" name="Shape 9"/>
          <p:cNvSpPr/>
          <p:nvPr/>
        </p:nvSpPr>
        <p:spPr>
          <a:xfrm>
            <a:off x="4398264" y="1856232"/>
            <a:ext cx="3401568" cy="2240280"/>
          </a:xfrm>
          <a:prstGeom prst="roundRect">
            <a:avLst>
              <a:gd name="adj" fmla="val 3265"/>
            </a:avLst>
          </a:prstGeom>
          <a:solidFill>
            <a:srgbClr val="102A40"/>
          </a:solidFill>
          <a:ln w="12700">
            <a:solidFill>
              <a:srgbClr val="102A40">
                <a:alpha val="0"/>
              </a:srgbClr>
            </a:solidFill>
            <a:prstDash val="solid"/>
          </a:ln>
        </p:spPr>
      </p:sp>
      <p:sp>
        <p:nvSpPr>
          <p:cNvPr id="12" name="Text 10"/>
          <p:cNvSpPr/>
          <p:nvPr/>
        </p:nvSpPr>
        <p:spPr>
          <a:xfrm>
            <a:off x="4636008" y="2075688"/>
            <a:ext cx="640080" cy="457200"/>
          </a:xfrm>
          <a:prstGeom prst="rect">
            <a:avLst/>
          </a:prstGeom>
          <a:noFill/>
          <a:ln/>
        </p:spPr>
        <p:txBody>
          <a:bodyPr wrap="square" lIns="0" tIns="0" rIns="0" bIns="0" rtlCol="0" anchor="ctr"/>
          <a:lstStyle/>
          <a:p>
            <a:pPr indent="0" marL="0">
              <a:buNone/>
            </a:pPr>
            <a:r>
              <a:rPr lang="en-US" sz="2500" b="1" dirty="0">
                <a:solidFill>
                  <a:srgbClr val="7DAFFF"/>
                </a:solidFill>
                <a:latin typeface="Aptos" pitchFamily="34" charset="0"/>
                <a:ea typeface="Aptos" pitchFamily="34" charset="-122"/>
                <a:cs typeface="Aptos" pitchFamily="34" charset="-120"/>
              </a:rPr>
              <a:t>02</a:t>
            </a:r>
            <a:endParaRPr lang="en-US" sz="2500" dirty="0"/>
          </a:p>
        </p:txBody>
      </p:sp>
      <p:sp>
        <p:nvSpPr>
          <p:cNvPr id="13" name="Shape 11"/>
          <p:cNvSpPr/>
          <p:nvPr/>
        </p:nvSpPr>
        <p:spPr>
          <a:xfrm>
            <a:off x="4645152" y="2670048"/>
            <a:ext cx="448056" cy="41148"/>
          </a:xfrm>
          <a:prstGeom prst="rect">
            <a:avLst/>
          </a:prstGeom>
          <a:solidFill>
            <a:srgbClr val="7DAFFF"/>
          </a:solidFill>
          <a:ln w="12700">
            <a:solidFill>
              <a:srgbClr val="7DAFFF">
                <a:alpha val="0"/>
              </a:srgbClr>
            </a:solidFill>
            <a:prstDash val="solid"/>
          </a:ln>
        </p:spPr>
      </p:sp>
      <p:sp>
        <p:nvSpPr>
          <p:cNvPr id="14" name="Text 12"/>
          <p:cNvSpPr/>
          <p:nvPr/>
        </p:nvSpPr>
        <p:spPr>
          <a:xfrm>
            <a:off x="4645152" y="2852928"/>
            <a:ext cx="2834640" cy="603504"/>
          </a:xfrm>
          <a:prstGeom prst="rect">
            <a:avLst/>
          </a:prstGeom>
          <a:noFill/>
          <a:ln/>
        </p:spPr>
        <p:txBody>
          <a:bodyPr wrap="square" lIns="0" tIns="0" rIns="0" bIns="0" rtlCol="0" anchor="t"/>
          <a:lstStyle/>
          <a:p>
            <a:pPr indent="0" marL="0">
              <a:buNone/>
            </a:pPr>
            <a:r>
              <a:rPr lang="en-US" sz="1900" b="1" dirty="0">
                <a:solidFill>
                  <a:srgbClr val="F5F8FA"/>
                </a:solidFill>
                <a:latin typeface="Aptos" pitchFamily="34" charset="0"/>
                <a:ea typeface="Aptos" pitchFamily="34" charset="-122"/>
                <a:cs typeface="Aptos" pitchFamily="34" charset="-120"/>
              </a:rPr>
              <a:t>Judgment matters</a:t>
            </a:r>
            <a:endParaRPr lang="en-US" sz="1900" dirty="0"/>
          </a:p>
          <a:p>
            <a:pPr indent="0" marL="0">
              <a:buNone/>
            </a:pPr>
            <a:r>
              <a:rPr lang="en-US" sz="1900" b="1" dirty="0">
                <a:solidFill>
                  <a:srgbClr val="F5F8FA"/>
                </a:solidFill>
                <a:latin typeface="Aptos" pitchFamily="34" charset="0"/>
                <a:ea typeface="Aptos" pitchFamily="34" charset="-122"/>
                <a:cs typeface="Aptos" pitchFamily="34" charset="-120"/>
              </a:rPr>
              <a:t>more than output</a:t>
            </a:r>
            <a:endParaRPr lang="en-US" sz="1900" dirty="0"/>
          </a:p>
        </p:txBody>
      </p:sp>
      <p:sp>
        <p:nvSpPr>
          <p:cNvPr id="15" name="Text 13"/>
          <p:cNvSpPr/>
          <p:nvPr/>
        </p:nvSpPr>
        <p:spPr>
          <a:xfrm>
            <a:off x="4645152" y="3529584"/>
            <a:ext cx="2871216" cy="402336"/>
          </a:xfrm>
          <a:prstGeom prst="rect">
            <a:avLst/>
          </a:prstGeom>
          <a:noFill/>
          <a:ln/>
        </p:spPr>
        <p:txBody>
          <a:bodyPr wrap="square" lIns="0" tIns="0" rIns="0" bIns="0" rtlCol="0" anchor="t"/>
          <a:lstStyle/>
          <a:p>
            <a:pPr indent="0" marL="0">
              <a:buNone/>
            </a:pPr>
            <a:r>
              <a:rPr lang="en-US" sz="1050" dirty="0">
                <a:solidFill>
                  <a:srgbClr val="A8BDCD"/>
                </a:solidFill>
                <a:latin typeface="Aptos" pitchFamily="34" charset="0"/>
                <a:ea typeface="Aptos" pitchFamily="34" charset="-122"/>
                <a:cs typeface="Aptos" pitchFamily="34" charset="-120"/>
              </a:rPr>
              <a:t>Students need to reason about solutions, evaluate trade-offs, and solve real problems.</a:t>
            </a:r>
            <a:endParaRPr lang="en-US" sz="1050" dirty="0"/>
          </a:p>
        </p:txBody>
      </p:sp>
      <p:sp>
        <p:nvSpPr>
          <p:cNvPr id="16" name="Shape 14"/>
          <p:cNvSpPr/>
          <p:nvPr/>
        </p:nvSpPr>
        <p:spPr>
          <a:xfrm>
            <a:off x="8129016" y="1856232"/>
            <a:ext cx="3401568" cy="2240280"/>
          </a:xfrm>
          <a:prstGeom prst="roundRect">
            <a:avLst>
              <a:gd name="adj" fmla="val 3265"/>
            </a:avLst>
          </a:prstGeom>
          <a:solidFill>
            <a:srgbClr val="102A40"/>
          </a:solidFill>
          <a:ln w="12700">
            <a:solidFill>
              <a:srgbClr val="102A40">
                <a:alpha val="0"/>
              </a:srgbClr>
            </a:solidFill>
            <a:prstDash val="solid"/>
          </a:ln>
        </p:spPr>
      </p:sp>
      <p:sp>
        <p:nvSpPr>
          <p:cNvPr id="17" name="Text 15"/>
          <p:cNvSpPr/>
          <p:nvPr/>
        </p:nvSpPr>
        <p:spPr>
          <a:xfrm>
            <a:off x="8366760" y="2075688"/>
            <a:ext cx="640080" cy="457200"/>
          </a:xfrm>
          <a:prstGeom prst="rect">
            <a:avLst/>
          </a:prstGeom>
          <a:noFill/>
          <a:ln/>
        </p:spPr>
        <p:txBody>
          <a:bodyPr wrap="square" lIns="0" tIns="0" rIns="0" bIns="0" rtlCol="0" anchor="ctr"/>
          <a:lstStyle/>
          <a:p>
            <a:pPr indent="0" marL="0">
              <a:buNone/>
            </a:pPr>
            <a:r>
              <a:rPr lang="en-US" sz="2500" b="1" dirty="0">
                <a:solidFill>
                  <a:srgbClr val="F4BD62"/>
                </a:solidFill>
                <a:latin typeface="Aptos" pitchFamily="34" charset="0"/>
                <a:ea typeface="Aptos" pitchFamily="34" charset="-122"/>
                <a:cs typeface="Aptos" pitchFamily="34" charset="-120"/>
              </a:rPr>
              <a:t>03</a:t>
            </a:r>
            <a:endParaRPr lang="en-US" sz="2500" dirty="0"/>
          </a:p>
        </p:txBody>
      </p:sp>
      <p:sp>
        <p:nvSpPr>
          <p:cNvPr id="18" name="Shape 16"/>
          <p:cNvSpPr/>
          <p:nvPr/>
        </p:nvSpPr>
        <p:spPr>
          <a:xfrm>
            <a:off x="8375904" y="2670048"/>
            <a:ext cx="448056" cy="41148"/>
          </a:xfrm>
          <a:prstGeom prst="rect">
            <a:avLst/>
          </a:prstGeom>
          <a:solidFill>
            <a:srgbClr val="F4BD62"/>
          </a:solidFill>
          <a:ln w="12700">
            <a:solidFill>
              <a:srgbClr val="F4BD62">
                <a:alpha val="0"/>
              </a:srgbClr>
            </a:solidFill>
            <a:prstDash val="solid"/>
          </a:ln>
        </p:spPr>
      </p:sp>
      <p:sp>
        <p:nvSpPr>
          <p:cNvPr id="19" name="Text 17"/>
          <p:cNvSpPr/>
          <p:nvPr/>
        </p:nvSpPr>
        <p:spPr>
          <a:xfrm>
            <a:off x="8375904" y="2852928"/>
            <a:ext cx="2834640" cy="603504"/>
          </a:xfrm>
          <a:prstGeom prst="rect">
            <a:avLst/>
          </a:prstGeom>
          <a:noFill/>
          <a:ln/>
        </p:spPr>
        <p:txBody>
          <a:bodyPr wrap="square" lIns="0" tIns="0" rIns="0" bIns="0" rtlCol="0" anchor="t"/>
          <a:lstStyle/>
          <a:p>
            <a:pPr indent="0" marL="0">
              <a:buNone/>
            </a:pPr>
            <a:r>
              <a:rPr lang="en-US" sz="1900" b="1" dirty="0">
                <a:solidFill>
                  <a:srgbClr val="F5F8FA"/>
                </a:solidFill>
                <a:latin typeface="Aptos" pitchFamily="34" charset="0"/>
                <a:ea typeface="Aptos" pitchFamily="34" charset="-122"/>
                <a:cs typeface="Aptos" pitchFamily="34" charset="-120"/>
              </a:rPr>
              <a:t>Delivery is</a:t>
            </a:r>
            <a:endParaRPr lang="en-US" sz="1900" dirty="0"/>
          </a:p>
          <a:p>
            <a:pPr indent="0" marL="0">
              <a:buNone/>
            </a:pPr>
            <a:r>
              <a:rPr lang="en-US" sz="1900" b="1" dirty="0">
                <a:solidFill>
                  <a:srgbClr val="F5F8FA"/>
                </a:solidFill>
                <a:latin typeface="Aptos" pitchFamily="34" charset="0"/>
                <a:ea typeface="Aptos" pitchFamily="34" charset="-122"/>
                <a:cs typeface="Aptos" pitchFamily="34" charset="-120"/>
              </a:rPr>
              <a:t>a team practice</a:t>
            </a:r>
            <a:endParaRPr lang="en-US" sz="1900" dirty="0"/>
          </a:p>
        </p:txBody>
      </p:sp>
      <p:sp>
        <p:nvSpPr>
          <p:cNvPr id="20" name="Text 18"/>
          <p:cNvSpPr/>
          <p:nvPr/>
        </p:nvSpPr>
        <p:spPr>
          <a:xfrm>
            <a:off x="8375904" y="3529584"/>
            <a:ext cx="2871216" cy="402336"/>
          </a:xfrm>
          <a:prstGeom prst="rect">
            <a:avLst/>
          </a:prstGeom>
          <a:noFill/>
          <a:ln/>
        </p:spPr>
        <p:txBody>
          <a:bodyPr wrap="square" lIns="0" tIns="0" rIns="0" bIns="0" rtlCol="0" anchor="t"/>
          <a:lstStyle/>
          <a:p>
            <a:pPr indent="0" marL="0">
              <a:buNone/>
            </a:pPr>
            <a:r>
              <a:rPr lang="en-US" sz="1050" dirty="0">
                <a:solidFill>
                  <a:srgbClr val="A8BDCD"/>
                </a:solidFill>
                <a:latin typeface="Aptos" pitchFamily="34" charset="0"/>
                <a:ea typeface="Aptos" pitchFamily="34" charset="-122"/>
                <a:cs typeface="Aptos" pitchFamily="34" charset="-120"/>
              </a:rPr>
              <a:t>Modern work brings together collaboration, version control, testing, and automation.</a:t>
            </a:r>
            <a:endParaRPr lang="en-US" sz="1050" dirty="0"/>
          </a:p>
        </p:txBody>
      </p:sp>
      <p:sp>
        <p:nvSpPr>
          <p:cNvPr id="21" name="Shape 19"/>
          <p:cNvSpPr/>
          <p:nvPr/>
        </p:nvSpPr>
        <p:spPr>
          <a:xfrm>
            <a:off x="667512" y="4507992"/>
            <a:ext cx="10863072" cy="1060704"/>
          </a:xfrm>
          <a:prstGeom prst="roundRect">
            <a:avLst>
              <a:gd name="adj" fmla="val 6897"/>
            </a:avLst>
          </a:prstGeom>
          <a:solidFill>
            <a:srgbClr val="15364F"/>
          </a:solidFill>
          <a:ln w="12700">
            <a:solidFill>
              <a:srgbClr val="15364F">
                <a:alpha val="0"/>
              </a:srgbClr>
            </a:solidFill>
            <a:prstDash val="solid"/>
          </a:ln>
        </p:spPr>
      </p:sp>
      <p:sp>
        <p:nvSpPr>
          <p:cNvPr id="22" name="Shape 20"/>
          <p:cNvSpPr/>
          <p:nvPr/>
        </p:nvSpPr>
        <p:spPr>
          <a:xfrm>
            <a:off x="905256" y="4745736"/>
            <a:ext cx="50292" cy="566928"/>
          </a:xfrm>
          <a:prstGeom prst="rect">
            <a:avLst/>
          </a:prstGeom>
          <a:solidFill>
            <a:srgbClr val="49D2BF"/>
          </a:solidFill>
          <a:ln w="12700">
            <a:solidFill>
              <a:srgbClr val="49D2BF">
                <a:alpha val="0"/>
              </a:srgbClr>
            </a:solidFill>
            <a:prstDash val="solid"/>
          </a:ln>
        </p:spPr>
      </p:sp>
      <p:sp>
        <p:nvSpPr>
          <p:cNvPr id="23" name="Text 21"/>
          <p:cNvSpPr/>
          <p:nvPr/>
        </p:nvSpPr>
        <p:spPr>
          <a:xfrm>
            <a:off x="1133856" y="4672584"/>
            <a:ext cx="9875520" cy="292608"/>
          </a:xfrm>
          <a:prstGeom prst="rect">
            <a:avLst/>
          </a:prstGeom>
          <a:noFill/>
          <a:ln/>
        </p:spPr>
        <p:txBody>
          <a:bodyPr wrap="square" lIns="0" tIns="0" rIns="0" bIns="0" rtlCol="0" anchor="ctr"/>
          <a:lstStyle/>
          <a:p>
            <a:pPr indent="0" marL="0">
              <a:buNone/>
            </a:pPr>
            <a:r>
              <a:rPr lang="en-US" sz="1700" dirty="0">
                <a:solidFill>
                  <a:srgbClr val="A8BDCD"/>
                </a:solidFill>
                <a:latin typeface="Aptos" pitchFamily="34" charset="0"/>
                <a:ea typeface="Aptos" pitchFamily="34" charset="-122"/>
                <a:cs typeface="Aptos" pitchFamily="34" charset="-120"/>
              </a:rPr>
              <a:t>The goal is not simply to teach students new tools.</a:t>
            </a:r>
            <a:endParaRPr lang="en-US" sz="1700" dirty="0"/>
          </a:p>
        </p:txBody>
      </p:sp>
      <p:sp>
        <p:nvSpPr>
          <p:cNvPr id="24" name="Text 22"/>
          <p:cNvSpPr/>
          <p:nvPr/>
        </p:nvSpPr>
        <p:spPr>
          <a:xfrm>
            <a:off x="1133856" y="5029200"/>
            <a:ext cx="9875520" cy="347472"/>
          </a:xfrm>
          <a:prstGeom prst="rect">
            <a:avLst/>
          </a:prstGeom>
          <a:noFill/>
          <a:ln/>
        </p:spPr>
        <p:txBody>
          <a:bodyPr wrap="square" lIns="0" tIns="0" rIns="0" bIns="0" rtlCol="0" anchor="ctr"/>
          <a:lstStyle/>
          <a:p>
            <a:pPr indent="0" marL="0">
              <a:buNone/>
            </a:pPr>
            <a:r>
              <a:rPr lang="en-US" sz="2000" b="1" dirty="0">
                <a:solidFill>
                  <a:srgbClr val="F5F8FA"/>
                </a:solidFill>
                <a:latin typeface="Aptos" pitchFamily="34" charset="0"/>
                <a:ea typeface="Aptos" pitchFamily="34" charset="-122"/>
                <a:cs typeface="Aptos" pitchFamily="34" charset="-120"/>
              </a:rPr>
              <a:t>It is to develop stronger software developers.</a:t>
            </a:r>
            <a:endParaRPr lang="en-US" sz="2000" dirty="0"/>
          </a:p>
        </p:txBody>
      </p:sp>
      <p:sp>
        <p:nvSpPr>
          <p:cNvPr id="25" name="Slide Number Placeholder 0"/>
          <p:cNvSpPr>
            <a:spLocks noGrp="1"/>
          </p:cNvSpPr>
          <p:nvPr>
            <p:ph type="sldNum" sz="quarter" idx="4294967295"/>
          </p:nvPr>
        </p:nvSpPr>
        <p:spPr>
          <a:xfrm>
            <a:off x="11137392" y="6455664"/>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8BDCD"/>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8368" y="283464"/>
            <a:ext cx="9509760" cy="201168"/>
          </a:xfrm>
          <a:prstGeom prst="rect">
            <a:avLst/>
          </a:prstGeom>
          <a:noFill/>
          <a:ln/>
        </p:spPr>
        <p:txBody>
          <a:bodyPr wrap="square" lIns="0" tIns="0" rIns="0" bIns="0" rtlCol="0" anchor="ctr"/>
          <a:lstStyle/>
          <a:p>
            <a:pPr indent="0" marL="0">
              <a:buNone/>
            </a:pPr>
            <a:r>
              <a:rPr lang="en-US" sz="900" b="1" spc="150" kern="0" dirty="0">
                <a:solidFill>
                  <a:srgbClr val="49D2BF"/>
                </a:solidFill>
                <a:latin typeface="Aptos" pitchFamily="34" charset="0"/>
                <a:ea typeface="Aptos" pitchFamily="34" charset="-122"/>
                <a:cs typeface="Aptos" pitchFamily="34" charset="-120"/>
              </a:rPr>
              <a:t>ECPI UNIVERSITY   /   FACULTY CONFERENCE   /   EDUCATIONAL PHILOSOPHY</a:t>
            </a:r>
            <a:endParaRPr lang="en-US" sz="900" dirty="0"/>
          </a:p>
        </p:txBody>
      </p:sp>
      <p:sp>
        <p:nvSpPr>
          <p:cNvPr id="3" name="Text 1"/>
          <p:cNvSpPr/>
          <p:nvPr/>
        </p:nvSpPr>
        <p:spPr>
          <a:xfrm>
            <a:off x="10835640" y="283464"/>
            <a:ext cx="713232" cy="201168"/>
          </a:xfrm>
          <a:prstGeom prst="rect">
            <a:avLst/>
          </a:prstGeom>
          <a:noFill/>
          <a:ln/>
        </p:spPr>
        <p:txBody>
          <a:bodyPr wrap="square" lIns="0" tIns="0" rIns="0" bIns="0" rtlCol="0" anchor="ctr"/>
          <a:lstStyle/>
          <a:p>
            <a:pPr algn="r" indent="0" marL="0">
              <a:buNone/>
            </a:pPr>
            <a:r>
              <a:rPr lang="en-US" sz="900" b="1" dirty="0">
                <a:solidFill>
                  <a:srgbClr val="A8BDCD"/>
                </a:solidFill>
                <a:latin typeface="Aptos" pitchFamily="34" charset="0"/>
                <a:ea typeface="Aptos" pitchFamily="34" charset="-122"/>
                <a:cs typeface="Aptos" pitchFamily="34" charset="-120"/>
              </a:rPr>
              <a:t>03  /  08</a:t>
            </a:r>
            <a:endParaRPr lang="en-US" sz="900" dirty="0"/>
          </a:p>
        </p:txBody>
      </p:sp>
      <p:sp>
        <p:nvSpPr>
          <p:cNvPr id="4" name="Text 2"/>
          <p:cNvSpPr/>
          <p:nvPr/>
        </p:nvSpPr>
        <p:spPr>
          <a:xfrm>
            <a:off x="658368" y="694944"/>
            <a:ext cx="10881360" cy="557784"/>
          </a:xfrm>
          <a:prstGeom prst="rect">
            <a:avLst/>
          </a:prstGeom>
          <a:noFill/>
          <a:ln/>
        </p:spPr>
        <p:txBody>
          <a:bodyPr wrap="square" lIns="0" tIns="0" rIns="0" bIns="0" rtlCol="0" anchor="ctr"/>
          <a:lstStyle/>
          <a:p>
            <a:pPr indent="0" marL="0">
              <a:buNone/>
            </a:pPr>
            <a:r>
              <a:rPr lang="en-US" sz="2900" b="1" dirty="0">
                <a:solidFill>
                  <a:srgbClr val="F5F8FA"/>
                </a:solidFill>
                <a:latin typeface="Aptos" pitchFamily="34" charset="0"/>
                <a:ea typeface="Aptos" pitchFamily="34" charset="-122"/>
                <a:cs typeface="Aptos" pitchFamily="34" charset="-120"/>
              </a:rPr>
              <a:t>The Augmented Craftsman Model</a:t>
            </a:r>
            <a:endParaRPr lang="en-US" sz="2900" dirty="0"/>
          </a:p>
        </p:txBody>
      </p:sp>
      <p:sp>
        <p:nvSpPr>
          <p:cNvPr id="5" name="Text 3"/>
          <p:cNvSpPr/>
          <p:nvPr/>
        </p:nvSpPr>
        <p:spPr>
          <a:xfrm>
            <a:off x="676656" y="1307592"/>
            <a:ext cx="10332720" cy="320040"/>
          </a:xfrm>
          <a:prstGeom prst="rect">
            <a:avLst/>
          </a:prstGeom>
          <a:noFill/>
          <a:ln/>
        </p:spPr>
        <p:txBody>
          <a:bodyPr wrap="square" lIns="0" tIns="0" rIns="0" bIns="0" rtlCol="0" anchor="ctr"/>
          <a:lstStyle/>
          <a:p>
            <a:pPr indent="0" marL="0">
              <a:buNone/>
            </a:pPr>
            <a:r>
              <a:rPr lang="en-US" sz="1300" dirty="0">
                <a:solidFill>
                  <a:srgbClr val="A8BDCD"/>
                </a:solidFill>
                <a:latin typeface="Aptos" pitchFamily="34" charset="0"/>
                <a:ea typeface="Aptos" pitchFamily="34" charset="-122"/>
                <a:cs typeface="Aptos" pitchFamily="34" charset="-120"/>
              </a:rPr>
              <a:t>AI can extend capability; the developer remains responsible for the work.</a:t>
            </a:r>
            <a:endParaRPr lang="en-US" sz="1300" dirty="0"/>
          </a:p>
        </p:txBody>
      </p:sp>
      <p:sp>
        <p:nvSpPr>
          <p:cNvPr id="6" name="Shape 4"/>
          <p:cNvSpPr/>
          <p:nvPr/>
        </p:nvSpPr>
        <p:spPr>
          <a:xfrm>
            <a:off x="6094476" y="3401568"/>
            <a:ext cx="-4283964" cy="-1115568"/>
          </a:xfrm>
          <a:prstGeom prst="line">
            <a:avLst/>
          </a:prstGeom>
          <a:noFill/>
          <a:ln w="13970">
            <a:solidFill>
              <a:srgbClr val="294A60">
                <a:alpha val="92000"/>
              </a:srgbClr>
            </a:solidFill>
            <a:prstDash val="solid"/>
            <a:headEnd type="none"/>
            <a:tailEnd type="none"/>
          </a:ln>
        </p:spPr>
      </p:sp>
      <p:sp>
        <p:nvSpPr>
          <p:cNvPr id="7" name="Shape 5"/>
          <p:cNvSpPr/>
          <p:nvPr/>
        </p:nvSpPr>
        <p:spPr>
          <a:xfrm>
            <a:off x="6094476" y="3401568"/>
            <a:ext cx="-4494276" cy="310896"/>
          </a:xfrm>
          <a:prstGeom prst="line">
            <a:avLst/>
          </a:prstGeom>
          <a:noFill/>
          <a:ln w="13970">
            <a:solidFill>
              <a:srgbClr val="294A60">
                <a:alpha val="92000"/>
              </a:srgbClr>
            </a:solidFill>
            <a:prstDash val="solid"/>
            <a:headEnd type="none"/>
            <a:tailEnd type="none"/>
          </a:ln>
        </p:spPr>
      </p:sp>
      <p:sp>
        <p:nvSpPr>
          <p:cNvPr id="8" name="Shape 6"/>
          <p:cNvSpPr/>
          <p:nvPr/>
        </p:nvSpPr>
        <p:spPr>
          <a:xfrm>
            <a:off x="6094476" y="3401568"/>
            <a:ext cx="-4283964" cy="1719072"/>
          </a:xfrm>
          <a:prstGeom prst="line">
            <a:avLst/>
          </a:prstGeom>
          <a:noFill/>
          <a:ln w="13970">
            <a:solidFill>
              <a:srgbClr val="294A60">
                <a:alpha val="92000"/>
              </a:srgbClr>
            </a:solidFill>
            <a:prstDash val="solid"/>
            <a:headEnd type="none"/>
            <a:tailEnd type="none"/>
          </a:ln>
        </p:spPr>
      </p:sp>
      <p:sp>
        <p:nvSpPr>
          <p:cNvPr id="9" name="Shape 7"/>
          <p:cNvSpPr/>
          <p:nvPr/>
        </p:nvSpPr>
        <p:spPr>
          <a:xfrm>
            <a:off x="6094476" y="3401568"/>
            <a:ext cx="4283964" cy="-1115568"/>
          </a:xfrm>
          <a:prstGeom prst="line">
            <a:avLst/>
          </a:prstGeom>
          <a:noFill/>
          <a:ln w="13970">
            <a:solidFill>
              <a:srgbClr val="294A60">
                <a:alpha val="92000"/>
              </a:srgbClr>
            </a:solidFill>
            <a:prstDash val="solid"/>
            <a:headEnd type="none"/>
            <a:tailEnd type="none"/>
          </a:ln>
        </p:spPr>
      </p:sp>
      <p:sp>
        <p:nvSpPr>
          <p:cNvPr id="10" name="Shape 8"/>
          <p:cNvSpPr/>
          <p:nvPr/>
        </p:nvSpPr>
        <p:spPr>
          <a:xfrm>
            <a:off x="6094476" y="3401568"/>
            <a:ext cx="4494276" cy="310896"/>
          </a:xfrm>
          <a:prstGeom prst="line">
            <a:avLst/>
          </a:prstGeom>
          <a:noFill/>
          <a:ln w="13970">
            <a:solidFill>
              <a:srgbClr val="294A60">
                <a:alpha val="92000"/>
              </a:srgbClr>
            </a:solidFill>
            <a:prstDash val="solid"/>
            <a:headEnd type="none"/>
            <a:tailEnd type="none"/>
          </a:ln>
        </p:spPr>
      </p:sp>
      <p:sp>
        <p:nvSpPr>
          <p:cNvPr id="11" name="Shape 9"/>
          <p:cNvSpPr/>
          <p:nvPr/>
        </p:nvSpPr>
        <p:spPr>
          <a:xfrm>
            <a:off x="6094476" y="3401568"/>
            <a:ext cx="4283964" cy="1719072"/>
          </a:xfrm>
          <a:prstGeom prst="line">
            <a:avLst/>
          </a:prstGeom>
          <a:noFill/>
          <a:ln w="13970">
            <a:solidFill>
              <a:srgbClr val="294A60">
                <a:alpha val="92000"/>
              </a:srgbClr>
            </a:solidFill>
            <a:prstDash val="solid"/>
            <a:headEnd type="none"/>
            <a:tailEnd type="none"/>
          </a:ln>
        </p:spPr>
      </p:sp>
      <p:sp>
        <p:nvSpPr>
          <p:cNvPr id="12" name="Shape 10"/>
          <p:cNvSpPr/>
          <p:nvPr/>
        </p:nvSpPr>
        <p:spPr>
          <a:xfrm>
            <a:off x="594360" y="1847088"/>
            <a:ext cx="2432304" cy="877824"/>
          </a:xfrm>
          <a:prstGeom prst="roundRect">
            <a:avLst>
              <a:gd name="adj" fmla="val 8333"/>
            </a:avLst>
          </a:prstGeom>
          <a:solidFill>
            <a:srgbClr val="102A40"/>
          </a:solidFill>
          <a:ln w="12700">
            <a:solidFill>
              <a:srgbClr val="102A40">
                <a:alpha val="0"/>
              </a:srgbClr>
            </a:solidFill>
            <a:prstDash val="solid"/>
          </a:ln>
        </p:spPr>
      </p:sp>
      <p:sp>
        <p:nvSpPr>
          <p:cNvPr id="13" name="Shape 11"/>
          <p:cNvSpPr/>
          <p:nvPr/>
        </p:nvSpPr>
        <p:spPr>
          <a:xfrm>
            <a:off x="758952" y="2020824"/>
            <a:ext cx="41148" cy="512064"/>
          </a:xfrm>
          <a:prstGeom prst="rect">
            <a:avLst/>
          </a:prstGeom>
          <a:solidFill>
            <a:srgbClr val="49D2BF"/>
          </a:solidFill>
          <a:ln w="12700">
            <a:solidFill>
              <a:srgbClr val="49D2BF">
                <a:alpha val="0"/>
              </a:srgbClr>
            </a:solidFill>
            <a:prstDash val="solid"/>
          </a:ln>
        </p:spPr>
      </p:sp>
      <p:sp>
        <p:nvSpPr>
          <p:cNvPr id="14" name="Text 12"/>
          <p:cNvSpPr/>
          <p:nvPr/>
        </p:nvSpPr>
        <p:spPr>
          <a:xfrm>
            <a:off x="923544" y="2011680"/>
            <a:ext cx="1938528" cy="246888"/>
          </a:xfrm>
          <a:prstGeom prst="rect">
            <a:avLst/>
          </a:prstGeom>
          <a:noFill/>
          <a:ln/>
        </p:spPr>
        <p:txBody>
          <a:bodyPr wrap="square" lIns="0" tIns="0" rIns="0" bIns="0" rtlCol="0" anchor="ctr"/>
          <a:lstStyle/>
          <a:p>
            <a:pPr indent="0" marL="0">
              <a:buNone/>
            </a:pPr>
            <a:r>
              <a:rPr lang="en-US" sz="1250" b="1" dirty="0">
                <a:solidFill>
                  <a:srgbClr val="F5F8FA"/>
                </a:solidFill>
                <a:latin typeface="Aptos" pitchFamily="34" charset="0"/>
                <a:ea typeface="Aptos" pitchFamily="34" charset="-122"/>
                <a:cs typeface="Aptos" pitchFamily="34" charset="-120"/>
              </a:rPr>
              <a:t>Engineering fundamentals</a:t>
            </a:r>
            <a:endParaRPr lang="en-US" sz="1250" dirty="0"/>
          </a:p>
        </p:txBody>
      </p:sp>
      <p:sp>
        <p:nvSpPr>
          <p:cNvPr id="15" name="Text 13"/>
          <p:cNvSpPr/>
          <p:nvPr/>
        </p:nvSpPr>
        <p:spPr>
          <a:xfrm>
            <a:off x="923544" y="2304288"/>
            <a:ext cx="1929384" cy="219456"/>
          </a:xfrm>
          <a:prstGeom prst="rect">
            <a:avLst/>
          </a:prstGeom>
          <a:noFill/>
          <a:ln/>
        </p:spPr>
        <p:txBody>
          <a:bodyPr wrap="square" lIns="0" tIns="0" rIns="0" bIns="0" rtlCol="0" anchor="ctr"/>
          <a:lstStyle/>
          <a:p>
            <a:pPr indent="0" marL="0">
              <a:buNone/>
            </a:pPr>
            <a:r>
              <a:rPr lang="en-US" sz="900" dirty="0">
                <a:solidFill>
                  <a:srgbClr val="A8BDCD"/>
                </a:solidFill>
                <a:latin typeface="Aptos" pitchFamily="34" charset="0"/>
                <a:ea typeface="Aptos" pitchFamily="34" charset="-122"/>
                <a:cs typeface="Aptos" pitchFamily="34" charset="-120"/>
              </a:rPr>
              <a:t>Understand the systems we build.</a:t>
            </a:r>
            <a:endParaRPr lang="en-US" sz="900" dirty="0"/>
          </a:p>
        </p:txBody>
      </p:sp>
      <p:sp>
        <p:nvSpPr>
          <p:cNvPr id="16" name="Shape 14"/>
          <p:cNvSpPr/>
          <p:nvPr/>
        </p:nvSpPr>
        <p:spPr>
          <a:xfrm>
            <a:off x="384048" y="3273552"/>
            <a:ext cx="2432304" cy="877824"/>
          </a:xfrm>
          <a:prstGeom prst="roundRect">
            <a:avLst>
              <a:gd name="adj" fmla="val 8333"/>
            </a:avLst>
          </a:prstGeom>
          <a:solidFill>
            <a:srgbClr val="102A40"/>
          </a:solidFill>
          <a:ln w="12700">
            <a:solidFill>
              <a:srgbClr val="102A40">
                <a:alpha val="0"/>
              </a:srgbClr>
            </a:solidFill>
            <a:prstDash val="solid"/>
          </a:ln>
        </p:spPr>
      </p:sp>
      <p:sp>
        <p:nvSpPr>
          <p:cNvPr id="17" name="Shape 15"/>
          <p:cNvSpPr/>
          <p:nvPr/>
        </p:nvSpPr>
        <p:spPr>
          <a:xfrm>
            <a:off x="548640" y="3447288"/>
            <a:ext cx="41148" cy="512064"/>
          </a:xfrm>
          <a:prstGeom prst="rect">
            <a:avLst/>
          </a:prstGeom>
          <a:solidFill>
            <a:srgbClr val="7DAFFF"/>
          </a:solidFill>
          <a:ln w="12700">
            <a:solidFill>
              <a:srgbClr val="7DAFFF">
                <a:alpha val="0"/>
              </a:srgbClr>
            </a:solidFill>
            <a:prstDash val="solid"/>
          </a:ln>
        </p:spPr>
      </p:sp>
      <p:sp>
        <p:nvSpPr>
          <p:cNvPr id="18" name="Text 16"/>
          <p:cNvSpPr/>
          <p:nvPr/>
        </p:nvSpPr>
        <p:spPr>
          <a:xfrm>
            <a:off x="713232" y="3438144"/>
            <a:ext cx="1938528" cy="246888"/>
          </a:xfrm>
          <a:prstGeom prst="rect">
            <a:avLst/>
          </a:prstGeom>
          <a:noFill/>
          <a:ln/>
        </p:spPr>
        <p:txBody>
          <a:bodyPr wrap="square" lIns="0" tIns="0" rIns="0" bIns="0" rtlCol="0" anchor="ctr"/>
          <a:lstStyle/>
          <a:p>
            <a:pPr indent="0" marL="0">
              <a:buNone/>
            </a:pPr>
            <a:r>
              <a:rPr lang="en-US" sz="1250" b="1" dirty="0">
                <a:solidFill>
                  <a:srgbClr val="F5F8FA"/>
                </a:solidFill>
                <a:latin typeface="Aptos" pitchFamily="34" charset="0"/>
                <a:ea typeface="Aptos" pitchFamily="34" charset="-122"/>
                <a:cs typeface="Aptos" pitchFamily="34" charset="-120"/>
              </a:rPr>
              <a:t>Critical thinking</a:t>
            </a:r>
            <a:endParaRPr lang="en-US" sz="1250" dirty="0"/>
          </a:p>
        </p:txBody>
      </p:sp>
      <p:sp>
        <p:nvSpPr>
          <p:cNvPr id="19" name="Text 17"/>
          <p:cNvSpPr/>
          <p:nvPr/>
        </p:nvSpPr>
        <p:spPr>
          <a:xfrm>
            <a:off x="713232" y="3730752"/>
            <a:ext cx="1929384" cy="219456"/>
          </a:xfrm>
          <a:prstGeom prst="rect">
            <a:avLst/>
          </a:prstGeom>
          <a:noFill/>
          <a:ln/>
        </p:spPr>
        <p:txBody>
          <a:bodyPr wrap="square" lIns="0" tIns="0" rIns="0" bIns="0" rtlCol="0" anchor="ctr"/>
          <a:lstStyle/>
          <a:p>
            <a:pPr indent="0" marL="0">
              <a:buNone/>
            </a:pPr>
            <a:r>
              <a:rPr lang="en-US" sz="900" dirty="0">
                <a:solidFill>
                  <a:srgbClr val="A8BDCD"/>
                </a:solidFill>
                <a:latin typeface="Aptos" pitchFamily="34" charset="0"/>
                <a:ea typeface="Aptos" pitchFamily="34" charset="-122"/>
                <a:cs typeface="Aptos" pitchFamily="34" charset="-120"/>
              </a:rPr>
              <a:t>Frame problems and weigh trade-offs.</a:t>
            </a:r>
            <a:endParaRPr lang="en-US" sz="900" dirty="0"/>
          </a:p>
        </p:txBody>
      </p:sp>
      <p:sp>
        <p:nvSpPr>
          <p:cNvPr id="20" name="Shape 18"/>
          <p:cNvSpPr/>
          <p:nvPr/>
        </p:nvSpPr>
        <p:spPr>
          <a:xfrm>
            <a:off x="594360" y="4681728"/>
            <a:ext cx="2432304" cy="877824"/>
          </a:xfrm>
          <a:prstGeom prst="roundRect">
            <a:avLst>
              <a:gd name="adj" fmla="val 8333"/>
            </a:avLst>
          </a:prstGeom>
          <a:solidFill>
            <a:srgbClr val="102A40"/>
          </a:solidFill>
          <a:ln w="12700">
            <a:solidFill>
              <a:srgbClr val="102A40">
                <a:alpha val="0"/>
              </a:srgbClr>
            </a:solidFill>
            <a:prstDash val="solid"/>
          </a:ln>
        </p:spPr>
      </p:sp>
      <p:sp>
        <p:nvSpPr>
          <p:cNvPr id="21" name="Shape 19"/>
          <p:cNvSpPr/>
          <p:nvPr/>
        </p:nvSpPr>
        <p:spPr>
          <a:xfrm>
            <a:off x="758952" y="4855464"/>
            <a:ext cx="41148" cy="512064"/>
          </a:xfrm>
          <a:prstGeom prst="rect">
            <a:avLst/>
          </a:prstGeom>
          <a:solidFill>
            <a:srgbClr val="F4BD62"/>
          </a:solidFill>
          <a:ln w="12700">
            <a:solidFill>
              <a:srgbClr val="F4BD62">
                <a:alpha val="0"/>
              </a:srgbClr>
            </a:solidFill>
            <a:prstDash val="solid"/>
          </a:ln>
        </p:spPr>
      </p:sp>
      <p:sp>
        <p:nvSpPr>
          <p:cNvPr id="22" name="Text 20"/>
          <p:cNvSpPr/>
          <p:nvPr/>
        </p:nvSpPr>
        <p:spPr>
          <a:xfrm>
            <a:off x="923544" y="4846320"/>
            <a:ext cx="1938528" cy="246888"/>
          </a:xfrm>
          <a:prstGeom prst="rect">
            <a:avLst/>
          </a:prstGeom>
          <a:noFill/>
          <a:ln/>
        </p:spPr>
        <p:txBody>
          <a:bodyPr wrap="square" lIns="0" tIns="0" rIns="0" bIns="0" rtlCol="0" anchor="ctr"/>
          <a:lstStyle/>
          <a:p>
            <a:pPr indent="0" marL="0">
              <a:buNone/>
            </a:pPr>
            <a:r>
              <a:rPr lang="en-US" sz="1250" b="1" dirty="0">
                <a:solidFill>
                  <a:srgbClr val="F5F8FA"/>
                </a:solidFill>
                <a:latin typeface="Aptos" pitchFamily="34" charset="0"/>
                <a:ea typeface="Aptos" pitchFamily="34" charset="-122"/>
                <a:cs typeface="Aptos" pitchFamily="34" charset="-120"/>
              </a:rPr>
              <a:t>Practical craftsmanship</a:t>
            </a:r>
            <a:endParaRPr lang="en-US" sz="1250" dirty="0"/>
          </a:p>
        </p:txBody>
      </p:sp>
      <p:sp>
        <p:nvSpPr>
          <p:cNvPr id="23" name="Text 21"/>
          <p:cNvSpPr/>
          <p:nvPr/>
        </p:nvSpPr>
        <p:spPr>
          <a:xfrm>
            <a:off x="923544" y="5138928"/>
            <a:ext cx="1929384" cy="219456"/>
          </a:xfrm>
          <a:prstGeom prst="rect">
            <a:avLst/>
          </a:prstGeom>
          <a:noFill/>
          <a:ln/>
        </p:spPr>
        <p:txBody>
          <a:bodyPr wrap="square" lIns="0" tIns="0" rIns="0" bIns="0" rtlCol="0" anchor="ctr"/>
          <a:lstStyle/>
          <a:p>
            <a:pPr indent="0" marL="0">
              <a:buNone/>
            </a:pPr>
            <a:r>
              <a:rPr lang="en-US" sz="900" dirty="0">
                <a:solidFill>
                  <a:srgbClr val="A8BDCD"/>
                </a:solidFill>
                <a:latin typeface="Aptos" pitchFamily="34" charset="0"/>
                <a:ea typeface="Aptos" pitchFamily="34" charset="-122"/>
                <a:cs typeface="Aptos" pitchFamily="34" charset="-120"/>
              </a:rPr>
              <a:t>Write clear, maintainable software.</a:t>
            </a:r>
            <a:endParaRPr lang="en-US" sz="900" dirty="0"/>
          </a:p>
        </p:txBody>
      </p:sp>
      <p:sp>
        <p:nvSpPr>
          <p:cNvPr id="24" name="Shape 22"/>
          <p:cNvSpPr/>
          <p:nvPr/>
        </p:nvSpPr>
        <p:spPr>
          <a:xfrm>
            <a:off x="9162288" y="1847088"/>
            <a:ext cx="2432304" cy="877824"/>
          </a:xfrm>
          <a:prstGeom prst="roundRect">
            <a:avLst>
              <a:gd name="adj" fmla="val 8333"/>
            </a:avLst>
          </a:prstGeom>
          <a:solidFill>
            <a:srgbClr val="102A40"/>
          </a:solidFill>
          <a:ln w="12700">
            <a:solidFill>
              <a:srgbClr val="102A40">
                <a:alpha val="0"/>
              </a:srgbClr>
            </a:solidFill>
            <a:prstDash val="solid"/>
          </a:ln>
        </p:spPr>
      </p:sp>
      <p:sp>
        <p:nvSpPr>
          <p:cNvPr id="25" name="Shape 23"/>
          <p:cNvSpPr/>
          <p:nvPr/>
        </p:nvSpPr>
        <p:spPr>
          <a:xfrm>
            <a:off x="9326880" y="2020824"/>
            <a:ext cx="41148" cy="512064"/>
          </a:xfrm>
          <a:prstGeom prst="rect">
            <a:avLst/>
          </a:prstGeom>
          <a:solidFill>
            <a:srgbClr val="49D2BF"/>
          </a:solidFill>
          <a:ln w="12700">
            <a:solidFill>
              <a:srgbClr val="49D2BF">
                <a:alpha val="0"/>
              </a:srgbClr>
            </a:solidFill>
            <a:prstDash val="solid"/>
          </a:ln>
        </p:spPr>
      </p:sp>
      <p:sp>
        <p:nvSpPr>
          <p:cNvPr id="26" name="Text 24"/>
          <p:cNvSpPr/>
          <p:nvPr/>
        </p:nvSpPr>
        <p:spPr>
          <a:xfrm>
            <a:off x="9491472" y="2011680"/>
            <a:ext cx="1938528" cy="246888"/>
          </a:xfrm>
          <a:prstGeom prst="rect">
            <a:avLst/>
          </a:prstGeom>
          <a:noFill/>
          <a:ln/>
        </p:spPr>
        <p:txBody>
          <a:bodyPr wrap="square" lIns="0" tIns="0" rIns="0" bIns="0" rtlCol="0" anchor="ctr"/>
          <a:lstStyle/>
          <a:p>
            <a:pPr indent="0" marL="0">
              <a:buNone/>
            </a:pPr>
            <a:r>
              <a:rPr lang="en-US" sz="1250" b="1" dirty="0">
                <a:solidFill>
                  <a:srgbClr val="F5F8FA"/>
                </a:solidFill>
                <a:latin typeface="Aptos" pitchFamily="34" charset="0"/>
                <a:ea typeface="Aptos" pitchFamily="34" charset="-122"/>
                <a:cs typeface="Aptos" pitchFamily="34" charset="-120"/>
              </a:rPr>
              <a:t>Responsible AI use</a:t>
            </a:r>
            <a:endParaRPr lang="en-US" sz="1250" dirty="0"/>
          </a:p>
        </p:txBody>
      </p:sp>
      <p:sp>
        <p:nvSpPr>
          <p:cNvPr id="27" name="Text 25"/>
          <p:cNvSpPr/>
          <p:nvPr/>
        </p:nvSpPr>
        <p:spPr>
          <a:xfrm>
            <a:off x="9491472" y="2304288"/>
            <a:ext cx="1929384" cy="219456"/>
          </a:xfrm>
          <a:prstGeom prst="rect">
            <a:avLst/>
          </a:prstGeom>
          <a:noFill/>
          <a:ln/>
        </p:spPr>
        <p:txBody>
          <a:bodyPr wrap="square" lIns="0" tIns="0" rIns="0" bIns="0" rtlCol="0" anchor="ctr"/>
          <a:lstStyle/>
          <a:p>
            <a:pPr indent="0" marL="0">
              <a:buNone/>
            </a:pPr>
            <a:r>
              <a:rPr lang="en-US" sz="900" dirty="0">
                <a:solidFill>
                  <a:srgbClr val="A8BDCD"/>
                </a:solidFill>
                <a:latin typeface="Aptos" pitchFamily="34" charset="0"/>
                <a:ea typeface="Aptos" pitchFamily="34" charset="-122"/>
                <a:cs typeface="Aptos" pitchFamily="34" charset="-120"/>
              </a:rPr>
              <a:t>Use assistance with discernment.</a:t>
            </a:r>
            <a:endParaRPr lang="en-US" sz="900" dirty="0"/>
          </a:p>
        </p:txBody>
      </p:sp>
      <p:sp>
        <p:nvSpPr>
          <p:cNvPr id="28" name="Shape 26"/>
          <p:cNvSpPr/>
          <p:nvPr/>
        </p:nvSpPr>
        <p:spPr>
          <a:xfrm>
            <a:off x="9372600" y="3273552"/>
            <a:ext cx="2432304" cy="877824"/>
          </a:xfrm>
          <a:prstGeom prst="roundRect">
            <a:avLst>
              <a:gd name="adj" fmla="val 8333"/>
            </a:avLst>
          </a:prstGeom>
          <a:solidFill>
            <a:srgbClr val="102A40"/>
          </a:solidFill>
          <a:ln w="12700">
            <a:solidFill>
              <a:srgbClr val="102A40">
                <a:alpha val="0"/>
              </a:srgbClr>
            </a:solidFill>
            <a:prstDash val="solid"/>
          </a:ln>
        </p:spPr>
      </p:sp>
      <p:sp>
        <p:nvSpPr>
          <p:cNvPr id="29" name="Shape 27"/>
          <p:cNvSpPr/>
          <p:nvPr/>
        </p:nvSpPr>
        <p:spPr>
          <a:xfrm>
            <a:off x="9537192" y="3447288"/>
            <a:ext cx="41148" cy="512064"/>
          </a:xfrm>
          <a:prstGeom prst="rect">
            <a:avLst/>
          </a:prstGeom>
          <a:solidFill>
            <a:srgbClr val="7DAFFF"/>
          </a:solidFill>
          <a:ln w="12700">
            <a:solidFill>
              <a:srgbClr val="7DAFFF">
                <a:alpha val="0"/>
              </a:srgbClr>
            </a:solidFill>
            <a:prstDash val="solid"/>
          </a:ln>
        </p:spPr>
      </p:sp>
      <p:sp>
        <p:nvSpPr>
          <p:cNvPr id="30" name="Text 28"/>
          <p:cNvSpPr/>
          <p:nvPr/>
        </p:nvSpPr>
        <p:spPr>
          <a:xfrm>
            <a:off x="9701784" y="3438144"/>
            <a:ext cx="1938528" cy="246888"/>
          </a:xfrm>
          <a:prstGeom prst="rect">
            <a:avLst/>
          </a:prstGeom>
          <a:noFill/>
          <a:ln/>
        </p:spPr>
        <p:txBody>
          <a:bodyPr wrap="square" lIns="0" tIns="0" rIns="0" bIns="0" rtlCol="0" anchor="ctr"/>
          <a:lstStyle/>
          <a:p>
            <a:pPr indent="0" marL="0">
              <a:buNone/>
            </a:pPr>
            <a:r>
              <a:rPr lang="en-US" sz="1250" b="1" dirty="0">
                <a:solidFill>
                  <a:srgbClr val="F5F8FA"/>
                </a:solidFill>
                <a:latin typeface="Aptos" pitchFamily="34" charset="0"/>
                <a:ea typeface="Aptos" pitchFamily="34" charset="-122"/>
                <a:cs typeface="Aptos" pitchFamily="34" charset="-120"/>
              </a:rPr>
              <a:t>Collaborative practice</a:t>
            </a:r>
            <a:endParaRPr lang="en-US" sz="1250" dirty="0"/>
          </a:p>
        </p:txBody>
      </p:sp>
      <p:sp>
        <p:nvSpPr>
          <p:cNvPr id="31" name="Text 29"/>
          <p:cNvSpPr/>
          <p:nvPr/>
        </p:nvSpPr>
        <p:spPr>
          <a:xfrm>
            <a:off x="9701784" y="3730752"/>
            <a:ext cx="1929384" cy="219456"/>
          </a:xfrm>
          <a:prstGeom prst="rect">
            <a:avLst/>
          </a:prstGeom>
          <a:noFill/>
          <a:ln/>
        </p:spPr>
        <p:txBody>
          <a:bodyPr wrap="square" lIns="0" tIns="0" rIns="0" bIns="0" rtlCol="0" anchor="ctr"/>
          <a:lstStyle/>
          <a:p>
            <a:pPr indent="0" marL="0">
              <a:buNone/>
            </a:pPr>
            <a:r>
              <a:rPr lang="en-US" sz="900" dirty="0">
                <a:solidFill>
                  <a:srgbClr val="A8BDCD"/>
                </a:solidFill>
                <a:latin typeface="Aptos" pitchFamily="34" charset="0"/>
                <a:ea typeface="Aptos" pitchFamily="34" charset="-122"/>
                <a:cs typeface="Aptos" pitchFamily="34" charset="-120"/>
              </a:rPr>
              <a:t>Build through shared workflows.</a:t>
            </a:r>
            <a:endParaRPr lang="en-US" sz="900" dirty="0"/>
          </a:p>
        </p:txBody>
      </p:sp>
      <p:sp>
        <p:nvSpPr>
          <p:cNvPr id="32" name="Shape 30"/>
          <p:cNvSpPr/>
          <p:nvPr/>
        </p:nvSpPr>
        <p:spPr>
          <a:xfrm>
            <a:off x="9162288" y="4681728"/>
            <a:ext cx="2432304" cy="877824"/>
          </a:xfrm>
          <a:prstGeom prst="roundRect">
            <a:avLst>
              <a:gd name="adj" fmla="val 8333"/>
            </a:avLst>
          </a:prstGeom>
          <a:solidFill>
            <a:srgbClr val="102A40"/>
          </a:solidFill>
          <a:ln w="12700">
            <a:solidFill>
              <a:srgbClr val="102A40">
                <a:alpha val="0"/>
              </a:srgbClr>
            </a:solidFill>
            <a:prstDash val="solid"/>
          </a:ln>
        </p:spPr>
      </p:sp>
      <p:sp>
        <p:nvSpPr>
          <p:cNvPr id="33" name="Shape 31"/>
          <p:cNvSpPr/>
          <p:nvPr/>
        </p:nvSpPr>
        <p:spPr>
          <a:xfrm>
            <a:off x="9326880" y="4855464"/>
            <a:ext cx="41148" cy="512064"/>
          </a:xfrm>
          <a:prstGeom prst="rect">
            <a:avLst/>
          </a:prstGeom>
          <a:solidFill>
            <a:srgbClr val="F4BD62"/>
          </a:solidFill>
          <a:ln w="12700">
            <a:solidFill>
              <a:srgbClr val="F4BD62">
                <a:alpha val="0"/>
              </a:srgbClr>
            </a:solidFill>
            <a:prstDash val="solid"/>
          </a:ln>
        </p:spPr>
      </p:sp>
      <p:sp>
        <p:nvSpPr>
          <p:cNvPr id="34" name="Text 32"/>
          <p:cNvSpPr/>
          <p:nvPr/>
        </p:nvSpPr>
        <p:spPr>
          <a:xfrm>
            <a:off x="9491472" y="4846320"/>
            <a:ext cx="1938528" cy="246888"/>
          </a:xfrm>
          <a:prstGeom prst="rect">
            <a:avLst/>
          </a:prstGeom>
          <a:noFill/>
          <a:ln/>
        </p:spPr>
        <p:txBody>
          <a:bodyPr wrap="square" lIns="0" tIns="0" rIns="0" bIns="0" rtlCol="0" anchor="ctr"/>
          <a:lstStyle/>
          <a:p>
            <a:pPr indent="0" marL="0">
              <a:buNone/>
            </a:pPr>
            <a:r>
              <a:rPr lang="en-US" sz="1250" b="1" dirty="0">
                <a:solidFill>
                  <a:srgbClr val="F5F8FA"/>
                </a:solidFill>
                <a:latin typeface="Aptos" pitchFamily="34" charset="0"/>
                <a:ea typeface="Aptos" pitchFamily="34" charset="-122"/>
                <a:cs typeface="Aptos" pitchFamily="34" charset="-120"/>
              </a:rPr>
              <a:t>Continuous learning</a:t>
            </a:r>
            <a:endParaRPr lang="en-US" sz="1250" dirty="0"/>
          </a:p>
        </p:txBody>
      </p:sp>
      <p:sp>
        <p:nvSpPr>
          <p:cNvPr id="35" name="Text 33"/>
          <p:cNvSpPr/>
          <p:nvPr/>
        </p:nvSpPr>
        <p:spPr>
          <a:xfrm>
            <a:off x="9491472" y="5138928"/>
            <a:ext cx="1929384" cy="219456"/>
          </a:xfrm>
          <a:prstGeom prst="rect">
            <a:avLst/>
          </a:prstGeom>
          <a:noFill/>
          <a:ln/>
        </p:spPr>
        <p:txBody>
          <a:bodyPr wrap="square" lIns="0" tIns="0" rIns="0" bIns="0" rtlCol="0" anchor="ctr"/>
          <a:lstStyle/>
          <a:p>
            <a:pPr indent="0" marL="0">
              <a:buNone/>
            </a:pPr>
            <a:r>
              <a:rPr lang="en-US" sz="900" dirty="0">
                <a:solidFill>
                  <a:srgbClr val="A8BDCD"/>
                </a:solidFill>
                <a:latin typeface="Aptos" pitchFamily="34" charset="0"/>
                <a:ea typeface="Aptos" pitchFamily="34" charset="-122"/>
                <a:cs typeface="Aptos" pitchFamily="34" charset="-120"/>
              </a:rPr>
              <a:t>Adapt as tools and needs change.</a:t>
            </a:r>
            <a:endParaRPr lang="en-US" sz="900" dirty="0"/>
          </a:p>
        </p:txBody>
      </p:sp>
      <p:sp>
        <p:nvSpPr>
          <p:cNvPr id="36" name="Shape 34"/>
          <p:cNvSpPr/>
          <p:nvPr/>
        </p:nvSpPr>
        <p:spPr>
          <a:xfrm>
            <a:off x="4919472" y="2231136"/>
            <a:ext cx="2350008" cy="2350008"/>
          </a:xfrm>
          <a:prstGeom prst="ellipse">
            <a:avLst/>
          </a:prstGeom>
          <a:solidFill>
            <a:srgbClr val="081A2B"/>
          </a:solidFill>
          <a:ln w="15240">
            <a:solidFill>
              <a:srgbClr val="49D2BF">
                <a:alpha val="90000"/>
              </a:srgbClr>
            </a:solidFill>
            <a:prstDash val="solid"/>
          </a:ln>
        </p:spPr>
      </p:sp>
      <p:sp>
        <p:nvSpPr>
          <p:cNvPr id="37" name="Shape 35"/>
          <p:cNvSpPr/>
          <p:nvPr/>
        </p:nvSpPr>
        <p:spPr>
          <a:xfrm>
            <a:off x="5138928" y="2450592"/>
            <a:ext cx="1911096" cy="1911096"/>
          </a:xfrm>
          <a:prstGeom prst="ellipse">
            <a:avLst/>
          </a:prstGeom>
          <a:solidFill>
            <a:srgbClr val="102A40"/>
          </a:solidFill>
          <a:ln w="12700">
            <a:solidFill>
              <a:srgbClr val="294A60"/>
            </a:solidFill>
            <a:prstDash val="solid"/>
          </a:ln>
        </p:spPr>
      </p:sp>
      <p:sp>
        <p:nvSpPr>
          <p:cNvPr id="38" name="Text 36"/>
          <p:cNvSpPr/>
          <p:nvPr/>
        </p:nvSpPr>
        <p:spPr>
          <a:xfrm>
            <a:off x="5349240" y="2980944"/>
            <a:ext cx="1490472" cy="201168"/>
          </a:xfrm>
          <a:prstGeom prst="rect">
            <a:avLst/>
          </a:prstGeom>
          <a:noFill/>
          <a:ln/>
        </p:spPr>
        <p:txBody>
          <a:bodyPr wrap="square" lIns="0" tIns="0" rIns="0" bIns="0" rtlCol="0" anchor="ctr"/>
          <a:lstStyle/>
          <a:p>
            <a:pPr algn="ctr" indent="0" marL="0">
              <a:buNone/>
            </a:pPr>
            <a:r>
              <a:rPr lang="en-US" sz="800" b="1" spc="130" kern="0" dirty="0">
                <a:solidFill>
                  <a:srgbClr val="49D2BF"/>
                </a:solidFill>
                <a:latin typeface="Aptos" pitchFamily="34" charset="0"/>
                <a:ea typeface="Aptos" pitchFamily="34" charset="-122"/>
                <a:cs typeface="Aptos" pitchFamily="34" charset="-120"/>
              </a:rPr>
              <a:t>AUGMENTED</a:t>
            </a:r>
            <a:endParaRPr lang="en-US" sz="800" dirty="0"/>
          </a:p>
        </p:txBody>
      </p:sp>
      <p:sp>
        <p:nvSpPr>
          <p:cNvPr id="39" name="Text 37"/>
          <p:cNvSpPr/>
          <p:nvPr/>
        </p:nvSpPr>
        <p:spPr>
          <a:xfrm>
            <a:off x="5148072" y="3273552"/>
            <a:ext cx="1901952" cy="374904"/>
          </a:xfrm>
          <a:prstGeom prst="rect">
            <a:avLst/>
          </a:prstGeom>
          <a:noFill/>
          <a:ln/>
        </p:spPr>
        <p:txBody>
          <a:bodyPr wrap="square" lIns="0" tIns="0" rIns="0" bIns="0" rtlCol="0" anchor="ctr"/>
          <a:lstStyle/>
          <a:p>
            <a:pPr algn="ctr" indent="0" marL="0">
              <a:buNone/>
            </a:pPr>
            <a:r>
              <a:rPr lang="en-US" sz="1900" b="1" dirty="0">
                <a:solidFill>
                  <a:srgbClr val="F5F8FA"/>
                </a:solidFill>
                <a:latin typeface="Aptos" pitchFamily="34" charset="0"/>
                <a:ea typeface="Aptos" pitchFamily="34" charset="-122"/>
                <a:cs typeface="Aptos" pitchFamily="34" charset="-120"/>
              </a:rPr>
              <a:t>Craftsman</a:t>
            </a:r>
            <a:endParaRPr lang="en-US" sz="1900" dirty="0"/>
          </a:p>
        </p:txBody>
      </p:sp>
      <p:sp>
        <p:nvSpPr>
          <p:cNvPr id="40" name="Text 38"/>
          <p:cNvSpPr/>
          <p:nvPr/>
        </p:nvSpPr>
        <p:spPr>
          <a:xfrm>
            <a:off x="5303520" y="3739896"/>
            <a:ext cx="1581912" cy="402336"/>
          </a:xfrm>
          <a:prstGeom prst="rect">
            <a:avLst/>
          </a:prstGeom>
          <a:noFill/>
          <a:ln/>
        </p:spPr>
        <p:txBody>
          <a:bodyPr wrap="square" lIns="0" tIns="0" rIns="0" bIns="0" rtlCol="0" anchor="ctr"/>
          <a:lstStyle/>
          <a:p>
            <a:pPr algn="ctr" indent="0" marL="0">
              <a:buNone/>
            </a:pPr>
            <a:r>
              <a:rPr lang="en-US" sz="1000" dirty="0">
                <a:solidFill>
                  <a:srgbClr val="A8BDCD"/>
                </a:solidFill>
                <a:latin typeface="Aptos" pitchFamily="34" charset="0"/>
                <a:ea typeface="Aptos" pitchFamily="34" charset="-122"/>
                <a:cs typeface="Aptos" pitchFamily="34" charset="-120"/>
              </a:rPr>
              <a:t>Judgment leads.</a:t>
            </a:r>
            <a:endParaRPr lang="en-US" sz="1000" dirty="0"/>
          </a:p>
          <a:p>
            <a:pPr algn="ctr" indent="0" marL="0">
              <a:buNone/>
            </a:pPr>
            <a:r>
              <a:rPr lang="en-US" sz="1000" dirty="0">
                <a:solidFill>
                  <a:srgbClr val="A8BDCD"/>
                </a:solidFill>
                <a:latin typeface="Aptos" pitchFamily="34" charset="0"/>
                <a:ea typeface="Aptos" pitchFamily="34" charset="-122"/>
                <a:cs typeface="Aptos" pitchFamily="34" charset="-120"/>
              </a:rPr>
              <a:t>Tools extend.</a:t>
            </a:r>
            <a:endParaRPr lang="en-US" sz="1000" dirty="0"/>
          </a:p>
        </p:txBody>
      </p:sp>
      <p:sp>
        <p:nvSpPr>
          <p:cNvPr id="25" name="Slide Number Placeholder 0"/>
          <p:cNvSpPr>
            <a:spLocks noGrp="1"/>
          </p:cNvSpPr>
          <p:nvPr>
            <p:ph type="sldNum" sz="quarter" idx="4294967295"/>
          </p:nvPr>
        </p:nvSpPr>
        <p:spPr>
          <a:xfrm>
            <a:off x="11137392" y="6455664"/>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8BDCD"/>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368" y="283464"/>
            <a:ext cx="9509760" cy="201168"/>
          </a:xfrm>
          <a:prstGeom prst="rect">
            <a:avLst/>
          </a:prstGeom>
          <a:noFill/>
          <a:ln/>
        </p:spPr>
        <p:txBody>
          <a:bodyPr wrap="square" lIns="0" tIns="0" rIns="0" bIns="0" rtlCol="0" anchor="ctr"/>
          <a:lstStyle/>
          <a:p>
            <a:pPr indent="0" marL="0">
              <a:buNone/>
            </a:pPr>
            <a:r>
              <a:rPr lang="en-US" sz="900" b="1" spc="150" kern="0" dirty="0">
                <a:solidFill>
                  <a:srgbClr val="49D2BF"/>
                </a:solidFill>
                <a:latin typeface="Aptos" pitchFamily="34" charset="0"/>
                <a:ea typeface="Aptos" pitchFamily="34" charset="-122"/>
                <a:cs typeface="Aptos" pitchFamily="34" charset="-120"/>
              </a:rPr>
              <a:t>ECPI UNIVERSITY   /   FACULTY CONFERENCE   /   LEARNING EXPERIENCE</a:t>
            </a:r>
            <a:endParaRPr lang="en-US" sz="900" dirty="0"/>
          </a:p>
        </p:txBody>
      </p:sp>
      <p:sp>
        <p:nvSpPr>
          <p:cNvPr id="3" name="Text 1"/>
          <p:cNvSpPr/>
          <p:nvPr/>
        </p:nvSpPr>
        <p:spPr>
          <a:xfrm>
            <a:off x="10835640" y="283464"/>
            <a:ext cx="713232" cy="201168"/>
          </a:xfrm>
          <a:prstGeom prst="rect">
            <a:avLst/>
          </a:prstGeom>
          <a:noFill/>
          <a:ln/>
        </p:spPr>
        <p:txBody>
          <a:bodyPr wrap="square" lIns="0" tIns="0" rIns="0" bIns="0" rtlCol="0" anchor="ctr"/>
          <a:lstStyle/>
          <a:p>
            <a:pPr algn="r" indent="0" marL="0">
              <a:buNone/>
            </a:pPr>
            <a:r>
              <a:rPr lang="en-US" sz="900" b="1" dirty="0">
                <a:solidFill>
                  <a:srgbClr val="A8BDCD"/>
                </a:solidFill>
                <a:latin typeface="Aptos" pitchFamily="34" charset="0"/>
                <a:ea typeface="Aptos" pitchFamily="34" charset="-122"/>
                <a:cs typeface="Aptos" pitchFamily="34" charset="-120"/>
              </a:rPr>
              <a:t>04  /  08</a:t>
            </a:r>
            <a:endParaRPr lang="en-US" sz="900" dirty="0"/>
          </a:p>
        </p:txBody>
      </p:sp>
      <p:sp>
        <p:nvSpPr>
          <p:cNvPr id="4" name="Text 2"/>
          <p:cNvSpPr/>
          <p:nvPr/>
        </p:nvSpPr>
        <p:spPr>
          <a:xfrm>
            <a:off x="658368" y="694944"/>
            <a:ext cx="10881360" cy="557784"/>
          </a:xfrm>
          <a:prstGeom prst="rect">
            <a:avLst/>
          </a:prstGeom>
          <a:noFill/>
          <a:ln/>
        </p:spPr>
        <p:txBody>
          <a:bodyPr wrap="square" lIns="0" tIns="0" rIns="0" bIns="0" rtlCol="0" anchor="ctr"/>
          <a:lstStyle/>
          <a:p>
            <a:pPr indent="0" marL="0">
              <a:buNone/>
            </a:pPr>
            <a:r>
              <a:rPr lang="en-US" sz="2900" b="1" dirty="0">
                <a:solidFill>
                  <a:srgbClr val="F5F8FA"/>
                </a:solidFill>
                <a:latin typeface="Aptos" pitchFamily="34" charset="0"/>
                <a:ea typeface="Aptos" pitchFamily="34" charset="-122"/>
                <a:cs typeface="Aptos" pitchFamily="34" charset="-120"/>
              </a:rPr>
              <a:t>What Makes This Program Different?</a:t>
            </a:r>
            <a:endParaRPr lang="en-US" sz="2900" dirty="0"/>
          </a:p>
        </p:txBody>
      </p:sp>
      <p:sp>
        <p:nvSpPr>
          <p:cNvPr id="5" name="Text 3"/>
          <p:cNvSpPr/>
          <p:nvPr/>
        </p:nvSpPr>
        <p:spPr>
          <a:xfrm>
            <a:off x="676656" y="1307592"/>
            <a:ext cx="10332720" cy="320040"/>
          </a:xfrm>
          <a:prstGeom prst="rect">
            <a:avLst/>
          </a:prstGeom>
          <a:noFill/>
          <a:ln/>
        </p:spPr>
        <p:txBody>
          <a:bodyPr wrap="square" lIns="0" tIns="0" rIns="0" bIns="0" rtlCol="0" anchor="ctr"/>
          <a:lstStyle/>
          <a:p>
            <a:pPr indent="0" marL="0">
              <a:buNone/>
            </a:pPr>
            <a:r>
              <a:rPr lang="en-US" sz="1300" dirty="0">
                <a:solidFill>
                  <a:srgbClr val="A8BDCD"/>
                </a:solidFill>
                <a:latin typeface="Aptos" pitchFamily="34" charset="0"/>
                <a:ea typeface="Aptos" pitchFamily="34" charset="-122"/>
                <a:cs typeface="Aptos" pitchFamily="34" charset="-120"/>
              </a:rPr>
              <a:t>A practical pathway connects tools, disciplined practice, and student judgment.</a:t>
            </a:r>
            <a:endParaRPr lang="en-US" sz="1300" dirty="0"/>
          </a:p>
        </p:txBody>
      </p:sp>
      <p:sp>
        <p:nvSpPr>
          <p:cNvPr id="6" name="Shape 4"/>
          <p:cNvSpPr/>
          <p:nvPr/>
        </p:nvSpPr>
        <p:spPr>
          <a:xfrm>
            <a:off x="658368" y="1783080"/>
            <a:ext cx="3401568" cy="1764792"/>
          </a:xfrm>
          <a:prstGeom prst="roundRect">
            <a:avLst>
              <a:gd name="adj" fmla="val 4145"/>
            </a:avLst>
          </a:prstGeom>
          <a:solidFill>
            <a:srgbClr val="102A40"/>
          </a:solidFill>
          <a:ln w="12700">
            <a:solidFill>
              <a:srgbClr val="102A40">
                <a:alpha val="0"/>
              </a:srgbClr>
            </a:solidFill>
            <a:prstDash val="solid"/>
          </a:ln>
        </p:spPr>
      </p:sp>
      <p:sp>
        <p:nvSpPr>
          <p:cNvPr id="7" name="Shape 5"/>
          <p:cNvSpPr/>
          <p:nvPr/>
        </p:nvSpPr>
        <p:spPr>
          <a:xfrm>
            <a:off x="914400" y="2029968"/>
            <a:ext cx="411480" cy="310896"/>
          </a:xfrm>
          <a:prstGeom prst="rect">
            <a:avLst>
              <a:gd name="adj" fmla="val 11765"/>
            </a:avLst>
          </a:prstGeom>
          <a:solidFill>
            <a:srgbClr val="102A40">
              <a:alpha val="0"/>
            </a:srgbClr>
          </a:solidFill>
          <a:ln w="19050">
            <a:solidFill>
              <a:srgbClr val="49D2BF"/>
            </a:solidFill>
            <a:prstDash val="solid"/>
          </a:ln>
        </p:spPr>
      </p:sp>
      <p:sp>
        <p:nvSpPr>
          <p:cNvPr id="8" name="Shape 6"/>
          <p:cNvSpPr/>
          <p:nvPr/>
        </p:nvSpPr>
        <p:spPr>
          <a:xfrm>
            <a:off x="1005840" y="2139696"/>
            <a:ext cx="73152" cy="54864"/>
          </a:xfrm>
          <a:prstGeom prst="line">
            <a:avLst/>
          </a:prstGeom>
          <a:noFill/>
          <a:ln w="19050">
            <a:solidFill>
              <a:srgbClr val="49D2BF"/>
            </a:solidFill>
            <a:prstDash val="solid"/>
            <a:headEnd type="none"/>
            <a:tailEnd type="none"/>
          </a:ln>
        </p:spPr>
      </p:sp>
      <p:sp>
        <p:nvSpPr>
          <p:cNvPr id="9" name="Shape 7"/>
          <p:cNvSpPr/>
          <p:nvPr/>
        </p:nvSpPr>
        <p:spPr>
          <a:xfrm>
            <a:off x="1078992" y="2194560"/>
            <a:ext cx="-73152" cy="54864"/>
          </a:xfrm>
          <a:prstGeom prst="line">
            <a:avLst/>
          </a:prstGeom>
          <a:noFill/>
          <a:ln w="19050">
            <a:solidFill>
              <a:srgbClr val="49D2BF"/>
            </a:solidFill>
            <a:prstDash val="solid"/>
            <a:headEnd type="none"/>
            <a:tailEnd type="none"/>
          </a:ln>
        </p:spPr>
      </p:sp>
      <p:sp>
        <p:nvSpPr>
          <p:cNvPr id="10" name="Shape 8"/>
          <p:cNvSpPr/>
          <p:nvPr/>
        </p:nvSpPr>
        <p:spPr>
          <a:xfrm>
            <a:off x="1143000" y="2249424"/>
            <a:ext cx="91440" cy="-109728"/>
          </a:xfrm>
          <a:prstGeom prst="line">
            <a:avLst/>
          </a:prstGeom>
          <a:noFill/>
          <a:ln w="19050">
            <a:solidFill>
              <a:srgbClr val="49D2BF"/>
            </a:solidFill>
            <a:prstDash val="solid"/>
            <a:headEnd type="none"/>
            <a:tailEnd type="none"/>
          </a:ln>
        </p:spPr>
      </p:sp>
      <p:sp>
        <p:nvSpPr>
          <p:cNvPr id="11" name="Text 9"/>
          <p:cNvSpPr/>
          <p:nvPr/>
        </p:nvSpPr>
        <p:spPr>
          <a:xfrm>
            <a:off x="3474720" y="2057400"/>
            <a:ext cx="310896" cy="173736"/>
          </a:xfrm>
          <a:prstGeom prst="rect">
            <a:avLst/>
          </a:prstGeom>
          <a:noFill/>
          <a:ln/>
        </p:spPr>
        <p:txBody>
          <a:bodyPr wrap="square" lIns="0" tIns="0" rIns="0" bIns="0" rtlCol="0" anchor="ctr"/>
          <a:lstStyle/>
          <a:p>
            <a:pPr algn="r" indent="0" marL="0">
              <a:buNone/>
            </a:pPr>
            <a:r>
              <a:rPr lang="en-US" sz="850" b="1" dirty="0">
                <a:solidFill>
                  <a:srgbClr val="A8BDCD"/>
                </a:solidFill>
                <a:latin typeface="Aptos" pitchFamily="34" charset="0"/>
                <a:ea typeface="Aptos" pitchFamily="34" charset="-122"/>
                <a:cs typeface="Aptos" pitchFamily="34" charset="-120"/>
              </a:rPr>
              <a:t>01</a:t>
            </a:r>
            <a:endParaRPr lang="en-US" sz="850" dirty="0"/>
          </a:p>
        </p:txBody>
      </p:sp>
      <p:sp>
        <p:nvSpPr>
          <p:cNvPr id="12" name="Text 10"/>
          <p:cNvSpPr/>
          <p:nvPr/>
        </p:nvSpPr>
        <p:spPr>
          <a:xfrm>
            <a:off x="886968" y="2542032"/>
            <a:ext cx="2907792" cy="338328"/>
          </a:xfrm>
          <a:prstGeom prst="rect">
            <a:avLst/>
          </a:prstGeom>
          <a:noFill/>
          <a:ln/>
        </p:spPr>
        <p:txBody>
          <a:bodyPr wrap="square" lIns="0" tIns="0" rIns="0" bIns="0" rtlCol="0" anchor="ctr"/>
          <a:lstStyle/>
          <a:p>
            <a:pPr indent="0" marL="0">
              <a:buNone/>
            </a:pPr>
            <a:r>
              <a:rPr lang="en-US" sz="1600" b="1" dirty="0">
                <a:solidFill>
                  <a:srgbClr val="F5F8FA"/>
                </a:solidFill>
                <a:latin typeface="Aptos" pitchFamily="34" charset="0"/>
                <a:ea typeface="Aptos" pitchFamily="34" charset="-122"/>
                <a:cs typeface="Aptos" pitchFamily="34" charset="-120"/>
              </a:rPr>
              <a:t>Applied AI</a:t>
            </a:r>
            <a:endParaRPr lang="en-US" sz="1600" dirty="0"/>
          </a:p>
        </p:txBody>
      </p:sp>
      <p:sp>
        <p:nvSpPr>
          <p:cNvPr id="13" name="Text 11"/>
          <p:cNvSpPr/>
          <p:nvPr/>
        </p:nvSpPr>
        <p:spPr>
          <a:xfrm>
            <a:off x="886968" y="2962656"/>
            <a:ext cx="2862072" cy="329184"/>
          </a:xfrm>
          <a:prstGeom prst="rect">
            <a:avLst/>
          </a:prstGeom>
          <a:noFill/>
          <a:ln/>
        </p:spPr>
        <p:txBody>
          <a:bodyPr wrap="square" lIns="0" tIns="0" rIns="0" bIns="0" rtlCol="0" anchor="t"/>
          <a:lstStyle/>
          <a:p>
            <a:pPr indent="0" marL="0">
              <a:buNone/>
            </a:pPr>
            <a:r>
              <a:rPr lang="en-US" sz="1050" dirty="0">
                <a:solidFill>
                  <a:srgbClr val="A8BDCD"/>
                </a:solidFill>
                <a:latin typeface="Aptos" pitchFamily="34" charset="0"/>
                <a:ea typeface="Aptos" pitchFamily="34" charset="-122"/>
                <a:cs typeface="Aptos" pitchFamily="34" charset="-120"/>
              </a:rPr>
              <a:t>Practice using AI throughout the development process.</a:t>
            </a:r>
            <a:endParaRPr lang="en-US" sz="1050" dirty="0"/>
          </a:p>
        </p:txBody>
      </p:sp>
      <p:sp>
        <p:nvSpPr>
          <p:cNvPr id="14" name="Shape 12"/>
          <p:cNvSpPr/>
          <p:nvPr/>
        </p:nvSpPr>
        <p:spPr>
          <a:xfrm>
            <a:off x="4398264" y="1783080"/>
            <a:ext cx="3401568" cy="1764792"/>
          </a:xfrm>
          <a:prstGeom prst="roundRect">
            <a:avLst>
              <a:gd name="adj" fmla="val 4145"/>
            </a:avLst>
          </a:prstGeom>
          <a:solidFill>
            <a:srgbClr val="102A40"/>
          </a:solidFill>
          <a:ln w="12700">
            <a:solidFill>
              <a:srgbClr val="102A40">
                <a:alpha val="0"/>
              </a:srgbClr>
            </a:solidFill>
            <a:prstDash val="solid"/>
          </a:ln>
        </p:spPr>
      </p:sp>
      <p:sp>
        <p:nvSpPr>
          <p:cNvPr id="15" name="Shape 13"/>
          <p:cNvSpPr/>
          <p:nvPr/>
        </p:nvSpPr>
        <p:spPr>
          <a:xfrm>
            <a:off x="4709160" y="2093976"/>
            <a:ext cx="0" cy="237744"/>
          </a:xfrm>
          <a:prstGeom prst="line">
            <a:avLst/>
          </a:prstGeom>
          <a:noFill/>
          <a:ln w="19050">
            <a:solidFill>
              <a:srgbClr val="7DAFFF"/>
            </a:solidFill>
            <a:prstDash val="solid"/>
            <a:headEnd type="none"/>
            <a:tailEnd type="none"/>
          </a:ln>
        </p:spPr>
      </p:sp>
      <p:sp>
        <p:nvSpPr>
          <p:cNvPr id="16" name="Shape 14"/>
          <p:cNvSpPr/>
          <p:nvPr/>
        </p:nvSpPr>
        <p:spPr>
          <a:xfrm>
            <a:off x="4709160" y="2203704"/>
            <a:ext cx="265176" cy="-109728"/>
          </a:xfrm>
          <a:prstGeom prst="line">
            <a:avLst/>
          </a:prstGeom>
          <a:noFill/>
          <a:ln w="19050">
            <a:solidFill>
              <a:srgbClr val="7DAFFF"/>
            </a:solidFill>
            <a:prstDash val="solid"/>
            <a:headEnd type="none"/>
            <a:tailEnd type="none"/>
          </a:ln>
        </p:spPr>
      </p:sp>
      <p:sp>
        <p:nvSpPr>
          <p:cNvPr id="17" name="Shape 15"/>
          <p:cNvSpPr/>
          <p:nvPr/>
        </p:nvSpPr>
        <p:spPr>
          <a:xfrm>
            <a:off x="4974336" y="2093976"/>
            <a:ext cx="0" cy="228600"/>
          </a:xfrm>
          <a:prstGeom prst="line">
            <a:avLst/>
          </a:prstGeom>
          <a:noFill/>
          <a:ln w="19050">
            <a:solidFill>
              <a:srgbClr val="7DAFFF"/>
            </a:solidFill>
            <a:prstDash val="solid"/>
            <a:headEnd type="none"/>
            <a:tailEnd type="none"/>
          </a:ln>
        </p:spPr>
      </p:sp>
      <p:sp>
        <p:nvSpPr>
          <p:cNvPr id="18" name="Shape 16"/>
          <p:cNvSpPr/>
          <p:nvPr/>
        </p:nvSpPr>
        <p:spPr>
          <a:xfrm>
            <a:off x="4649724" y="2057400"/>
            <a:ext cx="118872" cy="118872"/>
          </a:xfrm>
          <a:prstGeom prst="ellipse">
            <a:avLst/>
          </a:prstGeom>
          <a:solidFill>
            <a:srgbClr val="7DAFFF"/>
          </a:solidFill>
          <a:ln w="12700">
            <a:solidFill>
              <a:srgbClr val="7DAFFF">
                <a:alpha val="0"/>
              </a:srgbClr>
            </a:solidFill>
            <a:prstDash val="solid"/>
          </a:ln>
        </p:spPr>
      </p:sp>
      <p:sp>
        <p:nvSpPr>
          <p:cNvPr id="19" name="Shape 17"/>
          <p:cNvSpPr/>
          <p:nvPr/>
        </p:nvSpPr>
        <p:spPr>
          <a:xfrm>
            <a:off x="4914900" y="2034540"/>
            <a:ext cx="118872" cy="118872"/>
          </a:xfrm>
          <a:prstGeom prst="ellipse">
            <a:avLst/>
          </a:prstGeom>
          <a:solidFill>
            <a:srgbClr val="7DAFFF"/>
          </a:solidFill>
          <a:ln w="12700">
            <a:solidFill>
              <a:srgbClr val="7DAFFF">
                <a:alpha val="0"/>
              </a:srgbClr>
            </a:solidFill>
            <a:prstDash val="solid"/>
          </a:ln>
        </p:spPr>
      </p:sp>
      <p:sp>
        <p:nvSpPr>
          <p:cNvPr id="20" name="Shape 18"/>
          <p:cNvSpPr/>
          <p:nvPr/>
        </p:nvSpPr>
        <p:spPr>
          <a:xfrm>
            <a:off x="4914900" y="2286000"/>
            <a:ext cx="118872" cy="118872"/>
          </a:xfrm>
          <a:prstGeom prst="ellipse">
            <a:avLst/>
          </a:prstGeom>
          <a:solidFill>
            <a:srgbClr val="7DAFFF"/>
          </a:solidFill>
          <a:ln w="12700">
            <a:solidFill>
              <a:srgbClr val="7DAFFF">
                <a:alpha val="0"/>
              </a:srgbClr>
            </a:solidFill>
            <a:prstDash val="solid"/>
          </a:ln>
        </p:spPr>
      </p:sp>
      <p:sp>
        <p:nvSpPr>
          <p:cNvPr id="21" name="Shape 19"/>
          <p:cNvSpPr/>
          <p:nvPr/>
        </p:nvSpPr>
        <p:spPr>
          <a:xfrm>
            <a:off x="4649724" y="2267712"/>
            <a:ext cx="118872" cy="118872"/>
          </a:xfrm>
          <a:prstGeom prst="ellipse">
            <a:avLst/>
          </a:prstGeom>
          <a:solidFill>
            <a:srgbClr val="7DAFFF"/>
          </a:solidFill>
          <a:ln w="12700">
            <a:solidFill>
              <a:srgbClr val="7DAFFF">
                <a:alpha val="0"/>
              </a:srgbClr>
            </a:solidFill>
            <a:prstDash val="solid"/>
          </a:ln>
        </p:spPr>
      </p:sp>
      <p:sp>
        <p:nvSpPr>
          <p:cNvPr id="22" name="Text 20"/>
          <p:cNvSpPr/>
          <p:nvPr/>
        </p:nvSpPr>
        <p:spPr>
          <a:xfrm>
            <a:off x="7214616" y="2057400"/>
            <a:ext cx="310896" cy="173736"/>
          </a:xfrm>
          <a:prstGeom prst="rect">
            <a:avLst/>
          </a:prstGeom>
          <a:noFill/>
          <a:ln/>
        </p:spPr>
        <p:txBody>
          <a:bodyPr wrap="square" lIns="0" tIns="0" rIns="0" bIns="0" rtlCol="0" anchor="ctr"/>
          <a:lstStyle/>
          <a:p>
            <a:pPr algn="r" indent="0" marL="0">
              <a:buNone/>
            </a:pPr>
            <a:r>
              <a:rPr lang="en-US" sz="850" b="1" dirty="0">
                <a:solidFill>
                  <a:srgbClr val="A8BDCD"/>
                </a:solidFill>
                <a:latin typeface="Aptos" pitchFamily="34" charset="0"/>
                <a:ea typeface="Aptos" pitchFamily="34" charset="-122"/>
                <a:cs typeface="Aptos" pitchFamily="34" charset="-120"/>
              </a:rPr>
              <a:t>02</a:t>
            </a:r>
            <a:endParaRPr lang="en-US" sz="850" dirty="0"/>
          </a:p>
        </p:txBody>
      </p:sp>
      <p:sp>
        <p:nvSpPr>
          <p:cNvPr id="23" name="Text 21"/>
          <p:cNvSpPr/>
          <p:nvPr/>
        </p:nvSpPr>
        <p:spPr>
          <a:xfrm>
            <a:off x="4626864" y="2542032"/>
            <a:ext cx="2907792" cy="338328"/>
          </a:xfrm>
          <a:prstGeom prst="rect">
            <a:avLst/>
          </a:prstGeom>
          <a:noFill/>
          <a:ln/>
        </p:spPr>
        <p:txBody>
          <a:bodyPr wrap="square" lIns="0" tIns="0" rIns="0" bIns="0" rtlCol="0" anchor="ctr"/>
          <a:lstStyle/>
          <a:p>
            <a:pPr indent="0" marL="0">
              <a:buNone/>
            </a:pPr>
            <a:r>
              <a:rPr lang="en-US" sz="1600" b="1" dirty="0">
                <a:solidFill>
                  <a:srgbClr val="F5F8FA"/>
                </a:solidFill>
                <a:latin typeface="Aptos" pitchFamily="34" charset="0"/>
                <a:ea typeface="Aptos" pitchFamily="34" charset="-122"/>
                <a:cs typeface="Aptos" pitchFamily="34" charset="-120"/>
              </a:rPr>
              <a:t>Collaborative development</a:t>
            </a:r>
            <a:endParaRPr lang="en-US" sz="1600" dirty="0"/>
          </a:p>
        </p:txBody>
      </p:sp>
      <p:sp>
        <p:nvSpPr>
          <p:cNvPr id="24" name="Text 22"/>
          <p:cNvSpPr/>
          <p:nvPr/>
        </p:nvSpPr>
        <p:spPr>
          <a:xfrm>
            <a:off x="4626864" y="2962656"/>
            <a:ext cx="2862072" cy="329184"/>
          </a:xfrm>
          <a:prstGeom prst="rect">
            <a:avLst/>
          </a:prstGeom>
          <a:noFill/>
          <a:ln/>
        </p:spPr>
        <p:txBody>
          <a:bodyPr wrap="square" lIns="0" tIns="0" rIns="0" bIns="0" rtlCol="0" anchor="t"/>
          <a:lstStyle/>
          <a:p>
            <a:pPr indent="0" marL="0">
              <a:buNone/>
            </a:pPr>
            <a:r>
              <a:rPr lang="en-US" sz="1050" dirty="0">
                <a:solidFill>
                  <a:srgbClr val="A8BDCD"/>
                </a:solidFill>
                <a:latin typeface="Aptos" pitchFamily="34" charset="0"/>
                <a:ea typeface="Aptos" pitchFamily="34" charset="-122"/>
                <a:cs typeface="Aptos" pitchFamily="34" charset="-120"/>
              </a:rPr>
              <a:t>Build fluency with Git and shared workflows.</a:t>
            </a:r>
            <a:endParaRPr lang="en-US" sz="1050" dirty="0"/>
          </a:p>
        </p:txBody>
      </p:sp>
      <p:sp>
        <p:nvSpPr>
          <p:cNvPr id="25" name="Shape 23"/>
          <p:cNvSpPr/>
          <p:nvPr/>
        </p:nvSpPr>
        <p:spPr>
          <a:xfrm>
            <a:off x="8138160" y="1783080"/>
            <a:ext cx="3401568" cy="1764792"/>
          </a:xfrm>
          <a:prstGeom prst="roundRect">
            <a:avLst>
              <a:gd name="adj" fmla="val 4145"/>
            </a:avLst>
          </a:prstGeom>
          <a:solidFill>
            <a:srgbClr val="102A40"/>
          </a:solidFill>
          <a:ln w="12700">
            <a:solidFill>
              <a:srgbClr val="102A40">
                <a:alpha val="0"/>
              </a:srgbClr>
            </a:solidFill>
            <a:prstDash val="solid"/>
          </a:ln>
        </p:spPr>
      </p:sp>
      <p:sp>
        <p:nvSpPr>
          <p:cNvPr id="26" name="Shape 24"/>
          <p:cNvSpPr/>
          <p:nvPr/>
        </p:nvSpPr>
        <p:spPr>
          <a:xfrm>
            <a:off x="8357616" y="2121408"/>
            <a:ext cx="109728" cy="173736"/>
          </a:xfrm>
          <a:prstGeom prst="rect">
            <a:avLst/>
          </a:prstGeom>
          <a:solidFill>
            <a:srgbClr val="F4BD62"/>
          </a:solidFill>
          <a:ln w="12700">
            <a:solidFill>
              <a:srgbClr val="F4BD62">
                <a:alpha val="0"/>
              </a:srgbClr>
            </a:solidFill>
            <a:prstDash val="solid"/>
          </a:ln>
        </p:spPr>
      </p:sp>
      <p:sp>
        <p:nvSpPr>
          <p:cNvPr id="27" name="Shape 25"/>
          <p:cNvSpPr/>
          <p:nvPr/>
        </p:nvSpPr>
        <p:spPr>
          <a:xfrm>
            <a:off x="8513064" y="2121408"/>
            <a:ext cx="109728" cy="173736"/>
          </a:xfrm>
          <a:prstGeom prst="rect">
            <a:avLst/>
          </a:prstGeom>
          <a:solidFill>
            <a:srgbClr val="F4BD62"/>
          </a:solidFill>
          <a:ln w="12700">
            <a:solidFill>
              <a:srgbClr val="F4BD62">
                <a:alpha val="0"/>
              </a:srgbClr>
            </a:solidFill>
            <a:prstDash val="solid"/>
          </a:ln>
        </p:spPr>
      </p:sp>
      <p:sp>
        <p:nvSpPr>
          <p:cNvPr id="28" name="Shape 26"/>
          <p:cNvSpPr/>
          <p:nvPr/>
        </p:nvSpPr>
        <p:spPr>
          <a:xfrm>
            <a:off x="8668512" y="2121408"/>
            <a:ext cx="109728" cy="173736"/>
          </a:xfrm>
          <a:prstGeom prst="rect">
            <a:avLst/>
          </a:prstGeom>
          <a:solidFill>
            <a:srgbClr val="F4BD62"/>
          </a:solidFill>
          <a:ln w="12700">
            <a:solidFill>
              <a:srgbClr val="F4BD62">
                <a:alpha val="0"/>
              </a:srgbClr>
            </a:solidFill>
            <a:prstDash val="solid"/>
          </a:ln>
        </p:spPr>
      </p:sp>
      <p:sp>
        <p:nvSpPr>
          <p:cNvPr id="29" name="Shape 27"/>
          <p:cNvSpPr/>
          <p:nvPr/>
        </p:nvSpPr>
        <p:spPr>
          <a:xfrm>
            <a:off x="8439912" y="2340864"/>
            <a:ext cx="320040" cy="0"/>
          </a:xfrm>
          <a:prstGeom prst="line">
            <a:avLst/>
          </a:prstGeom>
          <a:noFill/>
          <a:ln w="16510">
            <a:solidFill>
              <a:srgbClr val="F4BD62"/>
            </a:solidFill>
            <a:prstDash val="solid"/>
            <a:headEnd type="none"/>
            <a:tailEnd type="none"/>
          </a:ln>
        </p:spPr>
      </p:sp>
      <p:sp>
        <p:nvSpPr>
          <p:cNvPr id="30" name="Text 28"/>
          <p:cNvSpPr/>
          <p:nvPr/>
        </p:nvSpPr>
        <p:spPr>
          <a:xfrm>
            <a:off x="10954512" y="2057400"/>
            <a:ext cx="310896" cy="173736"/>
          </a:xfrm>
          <a:prstGeom prst="rect">
            <a:avLst/>
          </a:prstGeom>
          <a:noFill/>
          <a:ln/>
        </p:spPr>
        <p:txBody>
          <a:bodyPr wrap="square" lIns="0" tIns="0" rIns="0" bIns="0" rtlCol="0" anchor="ctr"/>
          <a:lstStyle/>
          <a:p>
            <a:pPr algn="r" indent="0" marL="0">
              <a:buNone/>
            </a:pPr>
            <a:r>
              <a:rPr lang="en-US" sz="850" b="1" dirty="0">
                <a:solidFill>
                  <a:srgbClr val="A8BDCD"/>
                </a:solidFill>
                <a:latin typeface="Aptos" pitchFamily="34" charset="0"/>
                <a:ea typeface="Aptos" pitchFamily="34" charset="-122"/>
                <a:cs typeface="Aptos" pitchFamily="34" charset="-120"/>
              </a:rPr>
              <a:t>03</a:t>
            </a:r>
            <a:endParaRPr lang="en-US" sz="850" dirty="0"/>
          </a:p>
        </p:txBody>
      </p:sp>
      <p:sp>
        <p:nvSpPr>
          <p:cNvPr id="31" name="Text 29"/>
          <p:cNvSpPr/>
          <p:nvPr/>
        </p:nvSpPr>
        <p:spPr>
          <a:xfrm>
            <a:off x="8366760" y="2542032"/>
            <a:ext cx="2907792" cy="338328"/>
          </a:xfrm>
          <a:prstGeom prst="rect">
            <a:avLst/>
          </a:prstGeom>
          <a:noFill/>
          <a:ln/>
        </p:spPr>
        <p:txBody>
          <a:bodyPr wrap="square" lIns="0" tIns="0" rIns="0" bIns="0" rtlCol="0" anchor="ctr"/>
          <a:lstStyle/>
          <a:p>
            <a:pPr indent="0" marL="0">
              <a:buNone/>
            </a:pPr>
            <a:r>
              <a:rPr lang="en-US" sz="1600" b="1" dirty="0">
                <a:solidFill>
                  <a:srgbClr val="F5F8FA"/>
                </a:solidFill>
                <a:latin typeface="Aptos" pitchFamily="34" charset="0"/>
                <a:ea typeface="Aptos" pitchFamily="34" charset="-122"/>
                <a:cs typeface="Aptos" pitchFamily="34" charset="-120"/>
              </a:rPr>
              <a:t>CI/CD + DevOps</a:t>
            </a:r>
            <a:endParaRPr lang="en-US" sz="1600" dirty="0"/>
          </a:p>
        </p:txBody>
      </p:sp>
      <p:sp>
        <p:nvSpPr>
          <p:cNvPr id="32" name="Text 30"/>
          <p:cNvSpPr/>
          <p:nvPr/>
        </p:nvSpPr>
        <p:spPr>
          <a:xfrm>
            <a:off x="8366760" y="2962656"/>
            <a:ext cx="2862072" cy="329184"/>
          </a:xfrm>
          <a:prstGeom prst="rect">
            <a:avLst/>
          </a:prstGeom>
          <a:noFill/>
          <a:ln/>
        </p:spPr>
        <p:txBody>
          <a:bodyPr wrap="square" lIns="0" tIns="0" rIns="0" bIns="0" rtlCol="0" anchor="t"/>
          <a:lstStyle/>
          <a:p>
            <a:pPr indent="0" marL="0">
              <a:buNone/>
            </a:pPr>
            <a:r>
              <a:rPr lang="en-US" sz="1050" dirty="0">
                <a:solidFill>
                  <a:srgbClr val="A8BDCD"/>
                </a:solidFill>
                <a:latin typeface="Aptos" pitchFamily="34" charset="0"/>
                <a:ea typeface="Aptos" pitchFamily="34" charset="-122"/>
                <a:cs typeface="Aptos" pitchFamily="34" charset="-120"/>
              </a:rPr>
              <a:t>Connect automation, testing, and delivery.</a:t>
            </a:r>
            <a:endParaRPr lang="en-US" sz="1050" dirty="0"/>
          </a:p>
        </p:txBody>
      </p:sp>
      <p:sp>
        <p:nvSpPr>
          <p:cNvPr id="33" name="Shape 31"/>
          <p:cNvSpPr/>
          <p:nvPr/>
        </p:nvSpPr>
        <p:spPr>
          <a:xfrm>
            <a:off x="658368" y="3840480"/>
            <a:ext cx="3401568" cy="1764792"/>
          </a:xfrm>
          <a:prstGeom prst="roundRect">
            <a:avLst>
              <a:gd name="adj" fmla="val 4145"/>
            </a:avLst>
          </a:prstGeom>
          <a:solidFill>
            <a:srgbClr val="102A40"/>
          </a:solidFill>
          <a:ln w="12700">
            <a:solidFill>
              <a:srgbClr val="102A40">
                <a:alpha val="0"/>
              </a:srgbClr>
            </a:solidFill>
            <a:prstDash val="solid"/>
          </a:ln>
        </p:spPr>
      </p:sp>
      <p:sp>
        <p:nvSpPr>
          <p:cNvPr id="34" name="Shape 32"/>
          <p:cNvSpPr/>
          <p:nvPr/>
        </p:nvSpPr>
        <p:spPr>
          <a:xfrm>
            <a:off x="923544" y="4078224"/>
            <a:ext cx="329184" cy="320040"/>
          </a:xfrm>
          <a:prstGeom prst="rect">
            <a:avLst>
              <a:gd name="adj" fmla="val 8571"/>
            </a:avLst>
          </a:prstGeom>
          <a:solidFill>
            <a:srgbClr val="102A40">
              <a:alpha val="0"/>
            </a:srgbClr>
          </a:solidFill>
          <a:ln w="19050">
            <a:solidFill>
              <a:srgbClr val="7DAFFF"/>
            </a:solidFill>
            <a:prstDash val="solid"/>
          </a:ln>
        </p:spPr>
      </p:sp>
      <p:sp>
        <p:nvSpPr>
          <p:cNvPr id="35" name="Shape 33"/>
          <p:cNvSpPr/>
          <p:nvPr/>
        </p:nvSpPr>
        <p:spPr>
          <a:xfrm>
            <a:off x="996696" y="4178808"/>
            <a:ext cx="192024" cy="0"/>
          </a:xfrm>
          <a:prstGeom prst="line">
            <a:avLst/>
          </a:prstGeom>
          <a:noFill/>
          <a:ln w="17780">
            <a:solidFill>
              <a:srgbClr val="7DAFFF"/>
            </a:solidFill>
            <a:prstDash val="solid"/>
            <a:headEnd type="none"/>
            <a:tailEnd type="none"/>
          </a:ln>
        </p:spPr>
      </p:sp>
      <p:sp>
        <p:nvSpPr>
          <p:cNvPr id="36" name="Shape 34"/>
          <p:cNvSpPr/>
          <p:nvPr/>
        </p:nvSpPr>
        <p:spPr>
          <a:xfrm>
            <a:off x="996696" y="4251960"/>
            <a:ext cx="155448" cy="0"/>
          </a:xfrm>
          <a:prstGeom prst="line">
            <a:avLst/>
          </a:prstGeom>
          <a:noFill/>
          <a:ln w="17780">
            <a:solidFill>
              <a:srgbClr val="7DAFFF"/>
            </a:solidFill>
            <a:prstDash val="solid"/>
            <a:headEnd type="none"/>
            <a:tailEnd type="none"/>
          </a:ln>
        </p:spPr>
      </p:sp>
      <p:sp>
        <p:nvSpPr>
          <p:cNvPr id="37" name="Shape 35"/>
          <p:cNvSpPr/>
          <p:nvPr/>
        </p:nvSpPr>
        <p:spPr>
          <a:xfrm>
            <a:off x="996696" y="4325112"/>
            <a:ext cx="109728" cy="0"/>
          </a:xfrm>
          <a:prstGeom prst="line">
            <a:avLst/>
          </a:prstGeom>
          <a:noFill/>
          <a:ln w="17780">
            <a:solidFill>
              <a:srgbClr val="7DAFFF"/>
            </a:solidFill>
            <a:prstDash val="solid"/>
            <a:headEnd type="none"/>
            <a:tailEnd type="none"/>
          </a:ln>
        </p:spPr>
      </p:sp>
      <p:sp>
        <p:nvSpPr>
          <p:cNvPr id="38" name="Text 36"/>
          <p:cNvSpPr/>
          <p:nvPr/>
        </p:nvSpPr>
        <p:spPr>
          <a:xfrm>
            <a:off x="3474720" y="4114800"/>
            <a:ext cx="310896" cy="173736"/>
          </a:xfrm>
          <a:prstGeom prst="rect">
            <a:avLst/>
          </a:prstGeom>
          <a:noFill/>
          <a:ln/>
        </p:spPr>
        <p:txBody>
          <a:bodyPr wrap="square" lIns="0" tIns="0" rIns="0" bIns="0" rtlCol="0" anchor="ctr"/>
          <a:lstStyle/>
          <a:p>
            <a:pPr algn="r" indent="0" marL="0">
              <a:buNone/>
            </a:pPr>
            <a:r>
              <a:rPr lang="en-US" sz="850" b="1" dirty="0">
                <a:solidFill>
                  <a:srgbClr val="A8BDCD"/>
                </a:solidFill>
                <a:latin typeface="Aptos" pitchFamily="34" charset="0"/>
                <a:ea typeface="Aptos" pitchFamily="34" charset="-122"/>
                <a:cs typeface="Aptos" pitchFamily="34" charset="-120"/>
              </a:rPr>
              <a:t>04</a:t>
            </a:r>
            <a:endParaRPr lang="en-US" sz="850" dirty="0"/>
          </a:p>
        </p:txBody>
      </p:sp>
      <p:sp>
        <p:nvSpPr>
          <p:cNvPr id="39" name="Text 37"/>
          <p:cNvSpPr/>
          <p:nvPr/>
        </p:nvSpPr>
        <p:spPr>
          <a:xfrm>
            <a:off x="886968" y="4599432"/>
            <a:ext cx="2907792" cy="338328"/>
          </a:xfrm>
          <a:prstGeom prst="rect">
            <a:avLst/>
          </a:prstGeom>
          <a:noFill/>
          <a:ln/>
        </p:spPr>
        <p:txBody>
          <a:bodyPr wrap="square" lIns="0" tIns="0" rIns="0" bIns="0" rtlCol="0" anchor="ctr"/>
          <a:lstStyle/>
          <a:p>
            <a:pPr indent="0" marL="0">
              <a:buNone/>
            </a:pPr>
            <a:r>
              <a:rPr lang="en-US" sz="1600" b="1" dirty="0">
                <a:solidFill>
                  <a:srgbClr val="F5F8FA"/>
                </a:solidFill>
                <a:latin typeface="Aptos" pitchFamily="34" charset="0"/>
                <a:ea typeface="Aptos" pitchFamily="34" charset="-122"/>
                <a:cs typeface="Aptos" pitchFamily="34" charset="-120"/>
              </a:rPr>
              <a:t>Hands-on projects</a:t>
            </a:r>
            <a:endParaRPr lang="en-US" sz="1600" dirty="0"/>
          </a:p>
        </p:txBody>
      </p:sp>
      <p:sp>
        <p:nvSpPr>
          <p:cNvPr id="40" name="Text 38"/>
          <p:cNvSpPr/>
          <p:nvPr/>
        </p:nvSpPr>
        <p:spPr>
          <a:xfrm>
            <a:off x="886968" y="5020056"/>
            <a:ext cx="2862072" cy="329184"/>
          </a:xfrm>
          <a:prstGeom prst="rect">
            <a:avLst/>
          </a:prstGeom>
          <a:noFill/>
          <a:ln/>
        </p:spPr>
        <p:txBody>
          <a:bodyPr wrap="square" lIns="0" tIns="0" rIns="0" bIns="0" rtlCol="0" anchor="t"/>
          <a:lstStyle/>
          <a:p>
            <a:pPr indent="0" marL="0">
              <a:buNone/>
            </a:pPr>
            <a:r>
              <a:rPr lang="en-US" sz="1050" dirty="0">
                <a:solidFill>
                  <a:srgbClr val="A8BDCD"/>
                </a:solidFill>
                <a:latin typeface="Aptos" pitchFamily="34" charset="0"/>
                <a:ea typeface="Aptos" pitchFamily="34" charset="-122"/>
                <a:cs typeface="Aptos" pitchFamily="34" charset="-120"/>
              </a:rPr>
              <a:t>Learn by creating, reviewing, and refining.</a:t>
            </a:r>
            <a:endParaRPr lang="en-US" sz="1050" dirty="0"/>
          </a:p>
        </p:txBody>
      </p:sp>
      <p:sp>
        <p:nvSpPr>
          <p:cNvPr id="41" name="Shape 39"/>
          <p:cNvSpPr/>
          <p:nvPr/>
        </p:nvSpPr>
        <p:spPr>
          <a:xfrm>
            <a:off x="4398264" y="3840480"/>
            <a:ext cx="3401568" cy="1764792"/>
          </a:xfrm>
          <a:prstGeom prst="roundRect">
            <a:avLst>
              <a:gd name="adj" fmla="val 4145"/>
            </a:avLst>
          </a:prstGeom>
          <a:solidFill>
            <a:srgbClr val="102A40"/>
          </a:solidFill>
          <a:ln w="12700">
            <a:solidFill>
              <a:srgbClr val="102A40">
                <a:alpha val="0"/>
              </a:srgbClr>
            </a:solidFill>
            <a:prstDash val="solid"/>
          </a:ln>
        </p:spPr>
      </p:sp>
      <p:sp>
        <p:nvSpPr>
          <p:cNvPr id="42" name="Shape 40"/>
          <p:cNvSpPr/>
          <p:nvPr/>
        </p:nvSpPr>
        <p:spPr>
          <a:xfrm>
            <a:off x="4718304" y="4073652"/>
            <a:ext cx="292608" cy="292608"/>
          </a:xfrm>
          <a:prstGeom prst="ellipse">
            <a:avLst/>
          </a:prstGeom>
          <a:solidFill>
            <a:srgbClr val="102A40">
              <a:alpha val="0"/>
            </a:srgbClr>
          </a:solidFill>
          <a:ln w="19050">
            <a:solidFill>
              <a:srgbClr val="49D2BF"/>
            </a:solidFill>
            <a:prstDash val="solid"/>
          </a:ln>
        </p:spPr>
      </p:sp>
      <p:sp>
        <p:nvSpPr>
          <p:cNvPr id="43" name="Shape 41"/>
          <p:cNvSpPr/>
          <p:nvPr/>
        </p:nvSpPr>
        <p:spPr>
          <a:xfrm>
            <a:off x="4818888" y="4174236"/>
            <a:ext cx="91440" cy="91440"/>
          </a:xfrm>
          <a:prstGeom prst="ellipse">
            <a:avLst/>
          </a:prstGeom>
          <a:solidFill>
            <a:srgbClr val="49D2BF"/>
          </a:solidFill>
          <a:ln w="12700">
            <a:solidFill>
              <a:srgbClr val="49D2BF">
                <a:alpha val="0"/>
              </a:srgbClr>
            </a:solidFill>
            <a:prstDash val="solid"/>
          </a:ln>
        </p:spPr>
      </p:sp>
      <p:sp>
        <p:nvSpPr>
          <p:cNvPr id="44" name="Shape 42"/>
          <p:cNvSpPr/>
          <p:nvPr/>
        </p:nvSpPr>
        <p:spPr>
          <a:xfrm>
            <a:off x="4773168" y="4352544"/>
            <a:ext cx="-18288" cy="91440"/>
          </a:xfrm>
          <a:prstGeom prst="line">
            <a:avLst/>
          </a:prstGeom>
          <a:noFill/>
          <a:ln w="17780">
            <a:solidFill>
              <a:srgbClr val="49D2BF"/>
            </a:solidFill>
            <a:prstDash val="solid"/>
            <a:headEnd type="none"/>
            <a:tailEnd type="none"/>
          </a:ln>
        </p:spPr>
      </p:sp>
      <p:sp>
        <p:nvSpPr>
          <p:cNvPr id="45" name="Shape 43"/>
          <p:cNvSpPr/>
          <p:nvPr/>
        </p:nvSpPr>
        <p:spPr>
          <a:xfrm>
            <a:off x="4956048" y="4352544"/>
            <a:ext cx="18288" cy="91440"/>
          </a:xfrm>
          <a:prstGeom prst="line">
            <a:avLst/>
          </a:prstGeom>
          <a:noFill/>
          <a:ln w="17780">
            <a:solidFill>
              <a:srgbClr val="49D2BF"/>
            </a:solidFill>
            <a:prstDash val="solid"/>
            <a:headEnd type="none"/>
            <a:tailEnd type="none"/>
          </a:ln>
        </p:spPr>
      </p:sp>
      <p:sp>
        <p:nvSpPr>
          <p:cNvPr id="46" name="Text 44"/>
          <p:cNvSpPr/>
          <p:nvPr/>
        </p:nvSpPr>
        <p:spPr>
          <a:xfrm>
            <a:off x="7214616" y="4114800"/>
            <a:ext cx="310896" cy="173736"/>
          </a:xfrm>
          <a:prstGeom prst="rect">
            <a:avLst/>
          </a:prstGeom>
          <a:noFill/>
          <a:ln/>
        </p:spPr>
        <p:txBody>
          <a:bodyPr wrap="square" lIns="0" tIns="0" rIns="0" bIns="0" rtlCol="0" anchor="ctr"/>
          <a:lstStyle/>
          <a:p>
            <a:pPr algn="r" indent="0" marL="0">
              <a:buNone/>
            </a:pPr>
            <a:r>
              <a:rPr lang="en-US" sz="850" b="1" dirty="0">
                <a:solidFill>
                  <a:srgbClr val="A8BDCD"/>
                </a:solidFill>
                <a:latin typeface="Aptos" pitchFamily="34" charset="0"/>
                <a:ea typeface="Aptos" pitchFamily="34" charset="-122"/>
                <a:cs typeface="Aptos" pitchFamily="34" charset="-120"/>
              </a:rPr>
              <a:t>05</a:t>
            </a:r>
            <a:endParaRPr lang="en-US" sz="850" dirty="0"/>
          </a:p>
        </p:txBody>
      </p:sp>
      <p:sp>
        <p:nvSpPr>
          <p:cNvPr id="47" name="Text 45"/>
          <p:cNvSpPr/>
          <p:nvPr/>
        </p:nvSpPr>
        <p:spPr>
          <a:xfrm>
            <a:off x="4626864" y="4599432"/>
            <a:ext cx="2907792" cy="338328"/>
          </a:xfrm>
          <a:prstGeom prst="rect">
            <a:avLst/>
          </a:prstGeom>
          <a:noFill/>
          <a:ln/>
        </p:spPr>
        <p:txBody>
          <a:bodyPr wrap="square" lIns="0" tIns="0" rIns="0" bIns="0" rtlCol="0" anchor="ctr"/>
          <a:lstStyle/>
          <a:p>
            <a:pPr indent="0" marL="0">
              <a:buNone/>
            </a:pPr>
            <a:r>
              <a:rPr lang="en-US" sz="1600" b="1" dirty="0">
                <a:solidFill>
                  <a:srgbClr val="F5F8FA"/>
                </a:solidFill>
                <a:latin typeface="Aptos" pitchFamily="34" charset="0"/>
                <a:ea typeface="Aptos" pitchFamily="34" charset="-122"/>
                <a:cs typeface="Aptos" pitchFamily="34" charset="-120"/>
              </a:rPr>
              <a:t>Certification pathway</a:t>
            </a:r>
            <a:endParaRPr lang="en-US" sz="1600" dirty="0"/>
          </a:p>
        </p:txBody>
      </p:sp>
      <p:sp>
        <p:nvSpPr>
          <p:cNvPr id="48" name="Text 46"/>
          <p:cNvSpPr/>
          <p:nvPr/>
        </p:nvSpPr>
        <p:spPr>
          <a:xfrm>
            <a:off x="4626864" y="5020056"/>
            <a:ext cx="2862072" cy="329184"/>
          </a:xfrm>
          <a:prstGeom prst="rect">
            <a:avLst/>
          </a:prstGeom>
          <a:noFill/>
          <a:ln/>
        </p:spPr>
        <p:txBody>
          <a:bodyPr wrap="square" lIns="0" tIns="0" rIns="0" bIns="0" rtlCol="0" anchor="t"/>
          <a:lstStyle/>
          <a:p>
            <a:pPr indent="0" marL="0">
              <a:buNone/>
            </a:pPr>
            <a:r>
              <a:rPr lang="en-US" sz="1050" dirty="0">
                <a:solidFill>
                  <a:srgbClr val="A8BDCD"/>
                </a:solidFill>
                <a:latin typeface="Aptos" pitchFamily="34" charset="0"/>
                <a:ea typeface="Aptos" pitchFamily="34" charset="-122"/>
                <a:cs typeface="Aptos" pitchFamily="34" charset="-120"/>
              </a:rPr>
              <a:t>Integrate industry certifications into the pathway.</a:t>
            </a:r>
            <a:endParaRPr lang="en-US" sz="1050" dirty="0"/>
          </a:p>
        </p:txBody>
      </p:sp>
      <p:sp>
        <p:nvSpPr>
          <p:cNvPr id="49" name="Shape 47"/>
          <p:cNvSpPr/>
          <p:nvPr/>
        </p:nvSpPr>
        <p:spPr>
          <a:xfrm>
            <a:off x="8138160" y="3840480"/>
            <a:ext cx="3401568" cy="1764792"/>
          </a:xfrm>
          <a:prstGeom prst="roundRect">
            <a:avLst>
              <a:gd name="adj" fmla="val 4145"/>
            </a:avLst>
          </a:prstGeom>
          <a:solidFill>
            <a:srgbClr val="102A40"/>
          </a:solidFill>
          <a:ln w="12700">
            <a:solidFill>
              <a:srgbClr val="102A40">
                <a:alpha val="0"/>
              </a:srgbClr>
            </a:solidFill>
            <a:prstDash val="solid"/>
          </a:ln>
        </p:spPr>
      </p:sp>
      <p:sp>
        <p:nvSpPr>
          <p:cNvPr id="50" name="Shape 48"/>
          <p:cNvSpPr/>
          <p:nvPr/>
        </p:nvSpPr>
        <p:spPr>
          <a:xfrm>
            <a:off x="8403336" y="4087368"/>
            <a:ext cx="128016" cy="128016"/>
          </a:xfrm>
          <a:prstGeom prst="rect">
            <a:avLst/>
          </a:prstGeom>
          <a:solidFill>
            <a:srgbClr val="F4BD62"/>
          </a:solidFill>
          <a:ln w="15240">
            <a:solidFill>
              <a:srgbClr val="F4BD62"/>
            </a:solidFill>
            <a:prstDash val="solid"/>
          </a:ln>
        </p:spPr>
      </p:sp>
      <p:sp>
        <p:nvSpPr>
          <p:cNvPr id="51" name="Shape 49"/>
          <p:cNvSpPr/>
          <p:nvPr/>
        </p:nvSpPr>
        <p:spPr>
          <a:xfrm>
            <a:off x="8595360" y="4087368"/>
            <a:ext cx="128016" cy="128016"/>
          </a:xfrm>
          <a:prstGeom prst="rect">
            <a:avLst/>
          </a:prstGeom>
          <a:solidFill>
            <a:srgbClr val="102A40">
              <a:alpha val="0"/>
            </a:srgbClr>
          </a:solidFill>
          <a:ln w="15240">
            <a:solidFill>
              <a:srgbClr val="F4BD62"/>
            </a:solidFill>
            <a:prstDash val="solid"/>
          </a:ln>
        </p:spPr>
      </p:sp>
      <p:sp>
        <p:nvSpPr>
          <p:cNvPr id="52" name="Shape 50"/>
          <p:cNvSpPr/>
          <p:nvPr/>
        </p:nvSpPr>
        <p:spPr>
          <a:xfrm>
            <a:off x="8403336" y="4279392"/>
            <a:ext cx="128016" cy="128016"/>
          </a:xfrm>
          <a:prstGeom prst="rect">
            <a:avLst/>
          </a:prstGeom>
          <a:solidFill>
            <a:srgbClr val="102A40">
              <a:alpha val="0"/>
            </a:srgbClr>
          </a:solidFill>
          <a:ln w="15240">
            <a:solidFill>
              <a:srgbClr val="F4BD62"/>
            </a:solidFill>
            <a:prstDash val="solid"/>
          </a:ln>
        </p:spPr>
      </p:sp>
      <p:sp>
        <p:nvSpPr>
          <p:cNvPr id="53" name="Shape 51"/>
          <p:cNvSpPr/>
          <p:nvPr/>
        </p:nvSpPr>
        <p:spPr>
          <a:xfrm>
            <a:off x="8595360" y="4279392"/>
            <a:ext cx="128016" cy="128016"/>
          </a:xfrm>
          <a:prstGeom prst="rect">
            <a:avLst/>
          </a:prstGeom>
          <a:solidFill>
            <a:srgbClr val="102A40">
              <a:alpha val="0"/>
            </a:srgbClr>
          </a:solidFill>
          <a:ln w="15240">
            <a:solidFill>
              <a:srgbClr val="F4BD62"/>
            </a:solidFill>
            <a:prstDash val="solid"/>
          </a:ln>
        </p:spPr>
      </p:sp>
      <p:sp>
        <p:nvSpPr>
          <p:cNvPr id="54" name="Text 52"/>
          <p:cNvSpPr/>
          <p:nvPr/>
        </p:nvSpPr>
        <p:spPr>
          <a:xfrm>
            <a:off x="10954512" y="4114800"/>
            <a:ext cx="310896" cy="173736"/>
          </a:xfrm>
          <a:prstGeom prst="rect">
            <a:avLst/>
          </a:prstGeom>
          <a:noFill/>
          <a:ln/>
        </p:spPr>
        <p:txBody>
          <a:bodyPr wrap="square" lIns="0" tIns="0" rIns="0" bIns="0" rtlCol="0" anchor="ctr"/>
          <a:lstStyle/>
          <a:p>
            <a:pPr algn="r" indent="0" marL="0">
              <a:buNone/>
            </a:pPr>
            <a:r>
              <a:rPr lang="en-US" sz="850" b="1" dirty="0">
                <a:solidFill>
                  <a:srgbClr val="A8BDCD"/>
                </a:solidFill>
                <a:latin typeface="Aptos" pitchFamily="34" charset="0"/>
                <a:ea typeface="Aptos" pitchFamily="34" charset="-122"/>
                <a:cs typeface="Aptos" pitchFamily="34" charset="-120"/>
              </a:rPr>
              <a:t>06</a:t>
            </a:r>
            <a:endParaRPr lang="en-US" sz="850" dirty="0"/>
          </a:p>
        </p:txBody>
      </p:sp>
      <p:sp>
        <p:nvSpPr>
          <p:cNvPr id="55" name="Text 53"/>
          <p:cNvSpPr/>
          <p:nvPr/>
        </p:nvSpPr>
        <p:spPr>
          <a:xfrm>
            <a:off x="8366760" y="4599432"/>
            <a:ext cx="2907792" cy="338328"/>
          </a:xfrm>
          <a:prstGeom prst="rect">
            <a:avLst/>
          </a:prstGeom>
          <a:noFill/>
          <a:ln/>
        </p:spPr>
        <p:txBody>
          <a:bodyPr wrap="square" lIns="0" tIns="0" rIns="0" bIns="0" rtlCol="0" anchor="ctr"/>
          <a:lstStyle/>
          <a:p>
            <a:pPr indent="0" marL="0">
              <a:buNone/>
            </a:pPr>
            <a:r>
              <a:rPr lang="en-US" sz="1600" b="1" dirty="0">
                <a:solidFill>
                  <a:srgbClr val="F5F8FA"/>
                </a:solidFill>
                <a:latin typeface="Aptos" pitchFamily="34" charset="0"/>
                <a:ea typeface="Aptos" pitchFamily="34" charset="-122"/>
                <a:cs typeface="Aptos" pitchFamily="34" charset="-120"/>
              </a:rPr>
              <a:t>Pragmatic engineering</a:t>
            </a:r>
            <a:endParaRPr lang="en-US" sz="1600" dirty="0"/>
          </a:p>
        </p:txBody>
      </p:sp>
      <p:sp>
        <p:nvSpPr>
          <p:cNvPr id="56" name="Text 54"/>
          <p:cNvSpPr/>
          <p:nvPr/>
        </p:nvSpPr>
        <p:spPr>
          <a:xfrm>
            <a:off x="8366760" y="5020056"/>
            <a:ext cx="2862072" cy="329184"/>
          </a:xfrm>
          <a:prstGeom prst="rect">
            <a:avLst/>
          </a:prstGeom>
          <a:noFill/>
          <a:ln/>
        </p:spPr>
        <p:txBody>
          <a:bodyPr wrap="square" lIns="0" tIns="0" rIns="0" bIns="0" rtlCol="0" anchor="t"/>
          <a:lstStyle/>
          <a:p>
            <a:pPr indent="0" marL="0">
              <a:buNone/>
            </a:pPr>
            <a:r>
              <a:rPr lang="en-US" sz="1050" dirty="0">
                <a:solidFill>
                  <a:srgbClr val="A8BDCD"/>
                </a:solidFill>
                <a:latin typeface="Aptos" pitchFamily="34" charset="0"/>
                <a:ea typeface="Aptos" pitchFamily="34" charset="-122"/>
                <a:cs typeface="Aptos" pitchFamily="34" charset="-120"/>
              </a:rPr>
              <a:t>Pair creativity with sound technical judgment.</a:t>
            </a:r>
            <a:endParaRPr lang="en-US" sz="1050" dirty="0"/>
          </a:p>
        </p:txBody>
      </p:sp>
      <p:sp>
        <p:nvSpPr>
          <p:cNvPr id="57" name="Text 55"/>
          <p:cNvSpPr/>
          <p:nvPr/>
        </p:nvSpPr>
        <p:spPr>
          <a:xfrm>
            <a:off x="694944" y="5971032"/>
            <a:ext cx="10698480" cy="201168"/>
          </a:xfrm>
          <a:prstGeom prst="rect">
            <a:avLst/>
          </a:prstGeom>
          <a:noFill/>
          <a:ln/>
        </p:spPr>
        <p:txBody>
          <a:bodyPr wrap="square" lIns="0" tIns="0" rIns="0" bIns="0" rtlCol="0" anchor="ctr"/>
          <a:lstStyle/>
          <a:p>
            <a:pPr indent="0" marL="0">
              <a:buNone/>
            </a:pPr>
            <a:r>
              <a:rPr lang="en-US" sz="900" i="1" dirty="0">
                <a:solidFill>
                  <a:srgbClr val="A8BDCD"/>
                </a:solidFill>
                <a:latin typeface="Aptos" pitchFamily="34" charset="0"/>
                <a:ea typeface="Aptos" pitchFamily="34" charset="-122"/>
                <a:cs typeface="Aptos" pitchFamily="34" charset="-120"/>
              </a:rPr>
              <a:t>A proposed learning direction; specific curriculum and certification requirements remain subject to review.</a:t>
            </a:r>
            <a:endParaRPr lang="en-US" sz="900" dirty="0"/>
          </a:p>
        </p:txBody>
      </p:sp>
      <p:sp>
        <p:nvSpPr>
          <p:cNvPr id="25" name="Slide Number Placeholder 0"/>
          <p:cNvSpPr>
            <a:spLocks noGrp="1"/>
          </p:cNvSpPr>
          <p:nvPr>
            <p:ph type="sldNum" sz="quarter" idx="4294967295"/>
          </p:nvPr>
        </p:nvSpPr>
        <p:spPr>
          <a:xfrm>
            <a:off x="11137392" y="6455664"/>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8BDCD"/>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hase_One_Progress_Infographic.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hase_Two_Progress_Infographic.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8368" y="283464"/>
            <a:ext cx="9509760" cy="201168"/>
          </a:xfrm>
          <a:prstGeom prst="rect">
            <a:avLst/>
          </a:prstGeom>
          <a:noFill/>
          <a:ln/>
        </p:spPr>
        <p:txBody>
          <a:bodyPr wrap="square" lIns="0" tIns="0" rIns="0" bIns="0" rtlCol="0" anchor="ctr"/>
          <a:lstStyle/>
          <a:p>
            <a:pPr indent="0" marL="0">
              <a:buNone/>
            </a:pPr>
            <a:r>
              <a:rPr lang="en-US" sz="900" b="1" spc="150" kern="0" dirty="0">
                <a:solidFill>
                  <a:srgbClr val="49D2BF"/>
                </a:solidFill>
                <a:latin typeface="Aptos" pitchFamily="34" charset="0"/>
                <a:ea typeface="Aptos" pitchFamily="34" charset="-122"/>
                <a:cs typeface="Aptos" pitchFamily="34" charset="-120"/>
              </a:rPr>
              <a:t>ECPI UNIVERSITY   /   FACULTY CONFERENCE   /   NEXT STEPS</a:t>
            </a:r>
            <a:endParaRPr lang="en-US" sz="900" dirty="0"/>
          </a:p>
        </p:txBody>
      </p:sp>
      <p:sp>
        <p:nvSpPr>
          <p:cNvPr id="3" name="Text 1"/>
          <p:cNvSpPr/>
          <p:nvPr/>
        </p:nvSpPr>
        <p:spPr>
          <a:xfrm>
            <a:off x="10835640" y="283464"/>
            <a:ext cx="713232" cy="201168"/>
          </a:xfrm>
          <a:prstGeom prst="rect">
            <a:avLst/>
          </a:prstGeom>
          <a:noFill/>
          <a:ln/>
        </p:spPr>
        <p:txBody>
          <a:bodyPr wrap="square" lIns="0" tIns="0" rIns="0" bIns="0" rtlCol="0" anchor="ctr"/>
          <a:lstStyle/>
          <a:p>
            <a:pPr algn="r" indent="0" marL="0">
              <a:buNone/>
            </a:pPr>
            <a:r>
              <a:rPr lang="en-US" sz="900" b="1" dirty="0">
                <a:solidFill>
                  <a:srgbClr val="A8BDCD"/>
                </a:solidFill>
                <a:latin typeface="Aptos" pitchFamily="34" charset="0"/>
                <a:ea typeface="Aptos" pitchFamily="34" charset="-122"/>
                <a:cs typeface="Aptos" pitchFamily="34" charset="-120"/>
              </a:rPr>
              <a:t>07  /  08</a:t>
            </a:r>
            <a:endParaRPr lang="en-US" sz="900" dirty="0"/>
          </a:p>
        </p:txBody>
      </p:sp>
      <p:sp>
        <p:nvSpPr>
          <p:cNvPr id="4" name="Text 2"/>
          <p:cNvSpPr/>
          <p:nvPr/>
        </p:nvSpPr>
        <p:spPr>
          <a:xfrm>
            <a:off x="658368" y="694944"/>
            <a:ext cx="10881360" cy="557784"/>
          </a:xfrm>
          <a:prstGeom prst="rect">
            <a:avLst/>
          </a:prstGeom>
          <a:noFill/>
          <a:ln/>
        </p:spPr>
        <p:txBody>
          <a:bodyPr wrap="square" lIns="0" tIns="0" rIns="0" bIns="0" rtlCol="0" anchor="ctr"/>
          <a:lstStyle/>
          <a:p>
            <a:pPr indent="0" marL="0">
              <a:buNone/>
            </a:pPr>
            <a:r>
              <a:rPr lang="en-US" sz="2900" b="1" dirty="0">
                <a:solidFill>
                  <a:srgbClr val="F5F8FA"/>
                </a:solidFill>
                <a:latin typeface="Aptos" pitchFamily="34" charset="0"/>
                <a:ea typeface="Aptos" pitchFamily="34" charset="-122"/>
                <a:cs typeface="Aptos" pitchFamily="34" charset="-120"/>
              </a:rPr>
              <a:t>Our Development Roadmap</a:t>
            </a:r>
            <a:endParaRPr lang="en-US" sz="2900" dirty="0"/>
          </a:p>
        </p:txBody>
      </p:sp>
      <p:sp>
        <p:nvSpPr>
          <p:cNvPr id="5" name="Text 3"/>
          <p:cNvSpPr/>
          <p:nvPr/>
        </p:nvSpPr>
        <p:spPr>
          <a:xfrm>
            <a:off x="676656" y="1307592"/>
            <a:ext cx="10332720" cy="320040"/>
          </a:xfrm>
          <a:prstGeom prst="rect">
            <a:avLst/>
          </a:prstGeom>
          <a:noFill/>
          <a:ln/>
        </p:spPr>
        <p:txBody>
          <a:bodyPr wrap="square" lIns="0" tIns="0" rIns="0" bIns="0" rtlCol="0" anchor="ctr"/>
          <a:lstStyle/>
          <a:p>
            <a:pPr indent="0" marL="0">
              <a:buNone/>
            </a:pPr>
            <a:r>
              <a:rPr lang="en-US" sz="1300" dirty="0">
                <a:solidFill>
                  <a:srgbClr val="A8BDCD"/>
                </a:solidFill>
                <a:latin typeface="Aptos" pitchFamily="34" charset="0"/>
                <a:ea typeface="Aptos" pitchFamily="34" charset="-122"/>
                <a:cs typeface="Aptos" pitchFamily="34" charset="-120"/>
              </a:rPr>
              <a:t>A sequence of milestones, with timing set as the work and resources are confirmed.</a:t>
            </a:r>
            <a:endParaRPr lang="en-US" sz="1300" dirty="0"/>
          </a:p>
        </p:txBody>
      </p:sp>
      <p:sp>
        <p:nvSpPr>
          <p:cNvPr id="6" name="Shape 4"/>
          <p:cNvSpPr/>
          <p:nvPr/>
        </p:nvSpPr>
        <p:spPr>
          <a:xfrm>
            <a:off x="1389888" y="2816352"/>
            <a:ext cx="9418320" cy="0"/>
          </a:xfrm>
          <a:prstGeom prst="line">
            <a:avLst/>
          </a:prstGeom>
          <a:noFill/>
          <a:ln w="25400">
            <a:solidFill>
              <a:srgbClr val="294A60"/>
            </a:solidFill>
            <a:prstDash val="solid"/>
            <a:headEnd type="none"/>
            <a:tailEnd type="none"/>
          </a:ln>
        </p:spPr>
      </p:sp>
      <p:sp>
        <p:nvSpPr>
          <p:cNvPr id="7" name="Shape 5"/>
          <p:cNvSpPr/>
          <p:nvPr/>
        </p:nvSpPr>
        <p:spPr>
          <a:xfrm>
            <a:off x="1033272" y="2688336"/>
            <a:ext cx="256032" cy="256032"/>
          </a:xfrm>
          <a:prstGeom prst="ellipse">
            <a:avLst/>
          </a:prstGeom>
          <a:solidFill>
            <a:srgbClr val="49D2BF"/>
          </a:solidFill>
          <a:ln w="12700">
            <a:solidFill>
              <a:srgbClr val="49D2BF">
                <a:alpha val="0"/>
              </a:srgbClr>
            </a:solidFill>
            <a:prstDash val="solid"/>
          </a:ln>
        </p:spPr>
      </p:sp>
      <p:sp>
        <p:nvSpPr>
          <p:cNvPr id="8" name="Text 6"/>
          <p:cNvSpPr/>
          <p:nvPr/>
        </p:nvSpPr>
        <p:spPr>
          <a:xfrm>
            <a:off x="804672" y="2048256"/>
            <a:ext cx="713232" cy="210312"/>
          </a:xfrm>
          <a:prstGeom prst="rect">
            <a:avLst/>
          </a:prstGeom>
          <a:noFill/>
          <a:ln/>
        </p:spPr>
        <p:txBody>
          <a:bodyPr wrap="square" lIns="0" tIns="0" rIns="0" bIns="0" rtlCol="0" anchor="ctr"/>
          <a:lstStyle/>
          <a:p>
            <a:pPr algn="ctr" indent="0" marL="0">
              <a:buNone/>
            </a:pPr>
            <a:r>
              <a:rPr lang="en-US" sz="900" b="1" spc="80" kern="0" dirty="0">
                <a:solidFill>
                  <a:srgbClr val="49D2BF"/>
                </a:solidFill>
                <a:latin typeface="Aptos" pitchFamily="34" charset="0"/>
                <a:ea typeface="Aptos" pitchFamily="34" charset="-122"/>
                <a:cs typeface="Aptos" pitchFamily="34" charset="-120"/>
              </a:rPr>
              <a:t>01</a:t>
            </a:r>
            <a:endParaRPr lang="en-US" sz="900" dirty="0"/>
          </a:p>
        </p:txBody>
      </p:sp>
      <p:sp>
        <p:nvSpPr>
          <p:cNvPr id="9" name="Text 7"/>
          <p:cNvSpPr/>
          <p:nvPr/>
        </p:nvSpPr>
        <p:spPr>
          <a:xfrm>
            <a:off x="182880" y="3127248"/>
            <a:ext cx="1956816" cy="448056"/>
          </a:xfrm>
          <a:prstGeom prst="rect">
            <a:avLst/>
          </a:prstGeom>
          <a:noFill/>
          <a:ln/>
        </p:spPr>
        <p:txBody>
          <a:bodyPr wrap="square" lIns="0" tIns="0" rIns="0" bIns="0" rtlCol="0" anchor="t"/>
          <a:lstStyle/>
          <a:p>
            <a:pPr algn="ctr" indent="0" marL="0">
              <a:buNone/>
            </a:pPr>
            <a:r>
              <a:rPr lang="en-US" sz="1300" b="1" dirty="0">
                <a:solidFill>
                  <a:srgbClr val="F5F8FA"/>
                </a:solidFill>
                <a:latin typeface="Aptos" pitchFamily="34" charset="0"/>
                <a:ea typeface="Aptos" pitchFamily="34" charset="-122"/>
                <a:cs typeface="Aptos" pitchFamily="34" charset="-120"/>
              </a:rPr>
              <a:t>Develop + refine</a:t>
            </a:r>
            <a:endParaRPr lang="en-US" sz="1300" dirty="0"/>
          </a:p>
        </p:txBody>
      </p:sp>
      <p:sp>
        <p:nvSpPr>
          <p:cNvPr id="10" name="Text 8"/>
          <p:cNvSpPr/>
          <p:nvPr/>
        </p:nvSpPr>
        <p:spPr>
          <a:xfrm>
            <a:off x="109728" y="3694176"/>
            <a:ext cx="2103120" cy="493776"/>
          </a:xfrm>
          <a:prstGeom prst="rect">
            <a:avLst/>
          </a:prstGeom>
          <a:noFill/>
          <a:ln/>
        </p:spPr>
        <p:txBody>
          <a:bodyPr wrap="square" lIns="0" tIns="0" rIns="0" bIns="0" rtlCol="0" anchor="t"/>
          <a:lstStyle/>
          <a:p>
            <a:pPr algn="ctr" indent="0" marL="0">
              <a:buNone/>
            </a:pPr>
            <a:r>
              <a:rPr lang="en-US" sz="1000" dirty="0">
                <a:solidFill>
                  <a:srgbClr val="A8BDCD"/>
                </a:solidFill>
                <a:latin typeface="Aptos" pitchFamily="34" charset="0"/>
                <a:ea typeface="Aptos" pitchFamily="34" charset="-122"/>
                <a:cs typeface="Aptos" pitchFamily="34" charset="-120"/>
              </a:rPr>
              <a:t>Create course content</a:t>
            </a:r>
            <a:endParaRPr lang="en-US" sz="1000" dirty="0"/>
          </a:p>
          <a:p>
            <a:pPr algn="ctr" indent="0" marL="0">
              <a:buNone/>
            </a:pPr>
            <a:r>
              <a:rPr lang="en-US" sz="1000" dirty="0">
                <a:solidFill>
                  <a:srgbClr val="A8BDCD"/>
                </a:solidFill>
                <a:latin typeface="Aptos" pitchFamily="34" charset="0"/>
                <a:ea typeface="Aptos" pitchFamily="34" charset="-122"/>
                <a:cs typeface="Aptos" pitchFamily="34" charset="-120"/>
              </a:rPr>
              <a:t>and learning activities.</a:t>
            </a:r>
            <a:endParaRPr lang="en-US" sz="1000" dirty="0"/>
          </a:p>
        </p:txBody>
      </p:sp>
      <p:sp>
        <p:nvSpPr>
          <p:cNvPr id="11" name="Shape 9"/>
          <p:cNvSpPr/>
          <p:nvPr/>
        </p:nvSpPr>
        <p:spPr>
          <a:xfrm>
            <a:off x="3502152" y="2688336"/>
            <a:ext cx="256032" cy="256032"/>
          </a:xfrm>
          <a:prstGeom prst="ellipse">
            <a:avLst/>
          </a:prstGeom>
          <a:solidFill>
            <a:srgbClr val="7DAFFF"/>
          </a:solidFill>
          <a:ln w="12700">
            <a:solidFill>
              <a:srgbClr val="7DAFFF">
                <a:alpha val="0"/>
              </a:srgbClr>
            </a:solidFill>
            <a:prstDash val="solid"/>
          </a:ln>
        </p:spPr>
      </p:sp>
      <p:sp>
        <p:nvSpPr>
          <p:cNvPr id="12" name="Text 10"/>
          <p:cNvSpPr/>
          <p:nvPr/>
        </p:nvSpPr>
        <p:spPr>
          <a:xfrm>
            <a:off x="3273552" y="2048256"/>
            <a:ext cx="713232" cy="210312"/>
          </a:xfrm>
          <a:prstGeom prst="rect">
            <a:avLst/>
          </a:prstGeom>
          <a:noFill/>
          <a:ln/>
        </p:spPr>
        <p:txBody>
          <a:bodyPr wrap="square" lIns="0" tIns="0" rIns="0" bIns="0" rtlCol="0" anchor="ctr"/>
          <a:lstStyle/>
          <a:p>
            <a:pPr algn="ctr" indent="0" marL="0">
              <a:buNone/>
            </a:pPr>
            <a:r>
              <a:rPr lang="en-US" sz="900" b="1" spc="80" kern="0" dirty="0">
                <a:solidFill>
                  <a:srgbClr val="7DAFFF"/>
                </a:solidFill>
                <a:latin typeface="Aptos" pitchFamily="34" charset="0"/>
                <a:ea typeface="Aptos" pitchFamily="34" charset="-122"/>
                <a:cs typeface="Aptos" pitchFamily="34" charset="-120"/>
              </a:rPr>
              <a:t>02</a:t>
            </a:r>
            <a:endParaRPr lang="en-US" sz="900" dirty="0"/>
          </a:p>
        </p:txBody>
      </p:sp>
      <p:sp>
        <p:nvSpPr>
          <p:cNvPr id="13" name="Text 11"/>
          <p:cNvSpPr/>
          <p:nvPr/>
        </p:nvSpPr>
        <p:spPr>
          <a:xfrm>
            <a:off x="2651760" y="3127248"/>
            <a:ext cx="1956816" cy="448056"/>
          </a:xfrm>
          <a:prstGeom prst="rect">
            <a:avLst/>
          </a:prstGeom>
          <a:noFill/>
          <a:ln/>
        </p:spPr>
        <p:txBody>
          <a:bodyPr wrap="square" lIns="0" tIns="0" rIns="0" bIns="0" rtlCol="0" anchor="t"/>
          <a:lstStyle/>
          <a:p>
            <a:pPr algn="ctr" indent="0" marL="0">
              <a:buNone/>
            </a:pPr>
            <a:r>
              <a:rPr lang="en-US" sz="1300" b="1" dirty="0">
                <a:solidFill>
                  <a:srgbClr val="F5F8FA"/>
                </a:solidFill>
                <a:latin typeface="Aptos" pitchFamily="34" charset="0"/>
                <a:ea typeface="Aptos" pitchFamily="34" charset="-122"/>
                <a:cs typeface="Aptos" pitchFamily="34" charset="-120"/>
              </a:rPr>
              <a:t>Review + quality</a:t>
            </a:r>
            <a:endParaRPr lang="en-US" sz="1300" dirty="0"/>
          </a:p>
        </p:txBody>
      </p:sp>
      <p:sp>
        <p:nvSpPr>
          <p:cNvPr id="14" name="Text 12"/>
          <p:cNvSpPr/>
          <p:nvPr/>
        </p:nvSpPr>
        <p:spPr>
          <a:xfrm>
            <a:off x="2578608" y="3694176"/>
            <a:ext cx="2103120" cy="493776"/>
          </a:xfrm>
          <a:prstGeom prst="rect">
            <a:avLst/>
          </a:prstGeom>
          <a:noFill/>
          <a:ln/>
        </p:spPr>
        <p:txBody>
          <a:bodyPr wrap="square" lIns="0" tIns="0" rIns="0" bIns="0" rtlCol="0" anchor="t"/>
          <a:lstStyle/>
          <a:p>
            <a:pPr algn="ctr" indent="0" marL="0">
              <a:buNone/>
            </a:pPr>
            <a:r>
              <a:rPr lang="en-US" sz="1000" dirty="0">
                <a:solidFill>
                  <a:srgbClr val="A8BDCD"/>
                </a:solidFill>
                <a:latin typeface="Aptos" pitchFamily="34" charset="0"/>
                <a:ea typeface="Aptos" pitchFamily="34" charset="-122"/>
                <a:cs typeface="Aptos" pitchFamily="34" charset="-120"/>
              </a:rPr>
              <a:t>Strengthen accuracy,</a:t>
            </a:r>
            <a:endParaRPr lang="en-US" sz="1000" dirty="0"/>
          </a:p>
          <a:p>
            <a:pPr algn="ctr" indent="0" marL="0">
              <a:buNone/>
            </a:pPr>
            <a:r>
              <a:rPr lang="en-US" sz="1000" dirty="0">
                <a:solidFill>
                  <a:srgbClr val="A8BDCD"/>
                </a:solidFill>
                <a:latin typeface="Aptos" pitchFamily="34" charset="0"/>
                <a:ea typeface="Aptos" pitchFamily="34" charset="-122"/>
                <a:cs typeface="Aptos" pitchFamily="34" charset="-120"/>
              </a:rPr>
              <a:t>clarity, and instruction.</a:t>
            </a:r>
            <a:endParaRPr lang="en-US" sz="1000" dirty="0"/>
          </a:p>
        </p:txBody>
      </p:sp>
      <p:sp>
        <p:nvSpPr>
          <p:cNvPr id="15" name="Shape 13"/>
          <p:cNvSpPr/>
          <p:nvPr/>
        </p:nvSpPr>
        <p:spPr>
          <a:xfrm>
            <a:off x="5971032" y="2688336"/>
            <a:ext cx="256032" cy="256032"/>
          </a:xfrm>
          <a:prstGeom prst="ellipse">
            <a:avLst/>
          </a:prstGeom>
          <a:solidFill>
            <a:srgbClr val="F4BD62"/>
          </a:solidFill>
          <a:ln w="12700">
            <a:solidFill>
              <a:srgbClr val="F4BD62">
                <a:alpha val="0"/>
              </a:srgbClr>
            </a:solidFill>
            <a:prstDash val="solid"/>
          </a:ln>
        </p:spPr>
      </p:sp>
      <p:sp>
        <p:nvSpPr>
          <p:cNvPr id="16" name="Text 14"/>
          <p:cNvSpPr/>
          <p:nvPr/>
        </p:nvSpPr>
        <p:spPr>
          <a:xfrm>
            <a:off x="5742432" y="2048256"/>
            <a:ext cx="713232" cy="210312"/>
          </a:xfrm>
          <a:prstGeom prst="rect">
            <a:avLst/>
          </a:prstGeom>
          <a:noFill/>
          <a:ln/>
        </p:spPr>
        <p:txBody>
          <a:bodyPr wrap="square" lIns="0" tIns="0" rIns="0" bIns="0" rtlCol="0" anchor="ctr"/>
          <a:lstStyle/>
          <a:p>
            <a:pPr algn="ctr" indent="0" marL="0">
              <a:buNone/>
            </a:pPr>
            <a:r>
              <a:rPr lang="en-US" sz="900" b="1" spc="80" kern="0" dirty="0">
                <a:solidFill>
                  <a:srgbClr val="F4BD62"/>
                </a:solidFill>
                <a:latin typeface="Aptos" pitchFamily="34" charset="0"/>
                <a:ea typeface="Aptos" pitchFamily="34" charset="-122"/>
                <a:cs typeface="Aptos" pitchFamily="34" charset="-120"/>
              </a:rPr>
              <a:t>03</a:t>
            </a:r>
            <a:endParaRPr lang="en-US" sz="900" dirty="0"/>
          </a:p>
        </p:txBody>
      </p:sp>
      <p:sp>
        <p:nvSpPr>
          <p:cNvPr id="17" name="Text 15"/>
          <p:cNvSpPr/>
          <p:nvPr/>
        </p:nvSpPr>
        <p:spPr>
          <a:xfrm>
            <a:off x="5120640" y="3127248"/>
            <a:ext cx="1956816" cy="448056"/>
          </a:xfrm>
          <a:prstGeom prst="rect">
            <a:avLst/>
          </a:prstGeom>
          <a:noFill/>
          <a:ln/>
        </p:spPr>
        <p:txBody>
          <a:bodyPr wrap="square" lIns="0" tIns="0" rIns="0" bIns="0" rtlCol="0" anchor="t"/>
          <a:lstStyle/>
          <a:p>
            <a:pPr algn="ctr" indent="0" marL="0">
              <a:buNone/>
            </a:pPr>
            <a:r>
              <a:rPr lang="en-US" sz="1300" b="1" dirty="0">
                <a:solidFill>
                  <a:srgbClr val="F5F8FA"/>
                </a:solidFill>
                <a:latin typeface="Aptos" pitchFamily="34" charset="0"/>
                <a:ea typeface="Aptos" pitchFamily="34" charset="-122"/>
                <a:cs typeface="Aptos" pitchFamily="34" charset="-120"/>
              </a:rPr>
              <a:t>Prepare faculty</a:t>
            </a:r>
            <a:endParaRPr lang="en-US" sz="1300" dirty="0"/>
          </a:p>
        </p:txBody>
      </p:sp>
      <p:sp>
        <p:nvSpPr>
          <p:cNvPr id="18" name="Text 16"/>
          <p:cNvSpPr/>
          <p:nvPr/>
        </p:nvSpPr>
        <p:spPr>
          <a:xfrm>
            <a:off x="5047488" y="3694176"/>
            <a:ext cx="2103120" cy="493776"/>
          </a:xfrm>
          <a:prstGeom prst="rect">
            <a:avLst/>
          </a:prstGeom>
          <a:noFill/>
          <a:ln/>
        </p:spPr>
        <p:txBody>
          <a:bodyPr wrap="square" lIns="0" tIns="0" rIns="0" bIns="0" rtlCol="0" anchor="t"/>
          <a:lstStyle/>
          <a:p>
            <a:pPr algn="ctr" indent="0" marL="0">
              <a:buNone/>
            </a:pPr>
            <a:r>
              <a:rPr lang="en-US" sz="1000" dirty="0">
                <a:solidFill>
                  <a:srgbClr val="A8BDCD"/>
                </a:solidFill>
                <a:latin typeface="Aptos" pitchFamily="34" charset="0"/>
                <a:ea typeface="Aptos" pitchFamily="34" charset="-122"/>
                <a:cs typeface="Aptos" pitchFamily="34" charset="-120"/>
              </a:rPr>
              <a:t>Align on course goals</a:t>
            </a:r>
            <a:endParaRPr lang="en-US" sz="1000" dirty="0"/>
          </a:p>
          <a:p>
            <a:pPr algn="ctr" indent="0" marL="0">
              <a:buNone/>
            </a:pPr>
            <a:r>
              <a:rPr lang="en-US" sz="1000" dirty="0">
                <a:solidFill>
                  <a:srgbClr val="A8BDCD"/>
                </a:solidFill>
                <a:latin typeface="Aptos" pitchFamily="34" charset="0"/>
                <a:ea typeface="Aptos" pitchFamily="34" charset="-122"/>
                <a:cs typeface="Aptos" pitchFamily="34" charset="-120"/>
              </a:rPr>
              <a:t>and teaching practice.</a:t>
            </a:r>
            <a:endParaRPr lang="en-US" sz="1000" dirty="0"/>
          </a:p>
        </p:txBody>
      </p:sp>
      <p:sp>
        <p:nvSpPr>
          <p:cNvPr id="19" name="Shape 17"/>
          <p:cNvSpPr/>
          <p:nvPr/>
        </p:nvSpPr>
        <p:spPr>
          <a:xfrm>
            <a:off x="8439912" y="2688336"/>
            <a:ext cx="256032" cy="256032"/>
          </a:xfrm>
          <a:prstGeom prst="ellipse">
            <a:avLst/>
          </a:prstGeom>
          <a:solidFill>
            <a:srgbClr val="49D2BF"/>
          </a:solidFill>
          <a:ln w="12700">
            <a:solidFill>
              <a:srgbClr val="49D2BF">
                <a:alpha val="0"/>
              </a:srgbClr>
            </a:solidFill>
            <a:prstDash val="solid"/>
          </a:ln>
        </p:spPr>
      </p:sp>
      <p:sp>
        <p:nvSpPr>
          <p:cNvPr id="20" name="Text 18"/>
          <p:cNvSpPr/>
          <p:nvPr/>
        </p:nvSpPr>
        <p:spPr>
          <a:xfrm>
            <a:off x="8211312" y="2048256"/>
            <a:ext cx="713232" cy="210312"/>
          </a:xfrm>
          <a:prstGeom prst="rect">
            <a:avLst/>
          </a:prstGeom>
          <a:noFill/>
          <a:ln/>
        </p:spPr>
        <p:txBody>
          <a:bodyPr wrap="square" lIns="0" tIns="0" rIns="0" bIns="0" rtlCol="0" anchor="ctr"/>
          <a:lstStyle/>
          <a:p>
            <a:pPr algn="ctr" indent="0" marL="0">
              <a:buNone/>
            </a:pPr>
            <a:r>
              <a:rPr lang="en-US" sz="900" b="1" spc="80" kern="0" dirty="0">
                <a:solidFill>
                  <a:srgbClr val="49D2BF"/>
                </a:solidFill>
                <a:latin typeface="Aptos" pitchFamily="34" charset="0"/>
                <a:ea typeface="Aptos" pitchFamily="34" charset="-122"/>
                <a:cs typeface="Aptos" pitchFamily="34" charset="-120"/>
              </a:rPr>
              <a:t>04</a:t>
            </a:r>
            <a:endParaRPr lang="en-US" sz="900" dirty="0"/>
          </a:p>
        </p:txBody>
      </p:sp>
      <p:sp>
        <p:nvSpPr>
          <p:cNvPr id="21" name="Text 19"/>
          <p:cNvSpPr/>
          <p:nvPr/>
        </p:nvSpPr>
        <p:spPr>
          <a:xfrm>
            <a:off x="7589520" y="3127248"/>
            <a:ext cx="1956816" cy="448056"/>
          </a:xfrm>
          <a:prstGeom prst="rect">
            <a:avLst/>
          </a:prstGeom>
          <a:noFill/>
          <a:ln/>
        </p:spPr>
        <p:txBody>
          <a:bodyPr wrap="square" lIns="0" tIns="0" rIns="0" bIns="0" rtlCol="0" anchor="t"/>
          <a:lstStyle/>
          <a:p>
            <a:pPr algn="ctr" indent="0" marL="0">
              <a:buNone/>
            </a:pPr>
            <a:r>
              <a:rPr lang="en-US" sz="1300" b="1" dirty="0">
                <a:solidFill>
                  <a:srgbClr val="F5F8FA"/>
                </a:solidFill>
                <a:latin typeface="Aptos" pitchFamily="34" charset="0"/>
                <a:ea typeface="Aptos" pitchFamily="34" charset="-122"/>
                <a:cs typeface="Aptos" pitchFamily="34" charset="-120"/>
              </a:rPr>
              <a:t>Release + implement</a:t>
            </a:r>
            <a:endParaRPr lang="en-US" sz="1300" dirty="0"/>
          </a:p>
        </p:txBody>
      </p:sp>
      <p:sp>
        <p:nvSpPr>
          <p:cNvPr id="22" name="Text 20"/>
          <p:cNvSpPr/>
          <p:nvPr/>
        </p:nvSpPr>
        <p:spPr>
          <a:xfrm>
            <a:off x="7516368" y="3694176"/>
            <a:ext cx="2103120" cy="493776"/>
          </a:xfrm>
          <a:prstGeom prst="rect">
            <a:avLst/>
          </a:prstGeom>
          <a:noFill/>
          <a:ln/>
        </p:spPr>
        <p:txBody>
          <a:bodyPr wrap="square" lIns="0" tIns="0" rIns="0" bIns="0" rtlCol="0" anchor="t"/>
          <a:lstStyle/>
          <a:p>
            <a:pPr algn="ctr" indent="0" marL="0">
              <a:buNone/>
            </a:pPr>
            <a:r>
              <a:rPr lang="en-US" sz="1000" dirty="0">
                <a:solidFill>
                  <a:srgbClr val="A8BDCD"/>
                </a:solidFill>
                <a:latin typeface="Aptos" pitchFamily="34" charset="0"/>
                <a:ea typeface="Aptos" pitchFamily="34" charset="-122"/>
                <a:cs typeface="Aptos" pitchFamily="34" charset="-120"/>
              </a:rPr>
              <a:t>Bring reviewed courses</a:t>
            </a:r>
            <a:endParaRPr lang="en-US" sz="1000" dirty="0"/>
          </a:p>
          <a:p>
            <a:pPr algn="ctr" indent="0" marL="0">
              <a:buNone/>
            </a:pPr>
            <a:r>
              <a:rPr lang="en-US" sz="1000" dirty="0">
                <a:solidFill>
                  <a:srgbClr val="A8BDCD"/>
                </a:solidFill>
                <a:latin typeface="Aptos" pitchFamily="34" charset="0"/>
                <a:ea typeface="Aptos" pitchFamily="34" charset="-122"/>
                <a:cs typeface="Aptos" pitchFamily="34" charset="-120"/>
              </a:rPr>
              <a:t>into the pathway.</a:t>
            </a:r>
            <a:endParaRPr lang="en-US" sz="1000" dirty="0"/>
          </a:p>
        </p:txBody>
      </p:sp>
      <p:sp>
        <p:nvSpPr>
          <p:cNvPr id="23" name="Shape 21"/>
          <p:cNvSpPr/>
          <p:nvPr/>
        </p:nvSpPr>
        <p:spPr>
          <a:xfrm>
            <a:off x="10908792" y="2688336"/>
            <a:ext cx="256032" cy="256032"/>
          </a:xfrm>
          <a:prstGeom prst="ellipse">
            <a:avLst/>
          </a:prstGeom>
          <a:solidFill>
            <a:srgbClr val="7DAFFF"/>
          </a:solidFill>
          <a:ln w="12700">
            <a:solidFill>
              <a:srgbClr val="7DAFFF">
                <a:alpha val="0"/>
              </a:srgbClr>
            </a:solidFill>
            <a:prstDash val="solid"/>
          </a:ln>
        </p:spPr>
      </p:sp>
      <p:sp>
        <p:nvSpPr>
          <p:cNvPr id="24" name="Text 22"/>
          <p:cNvSpPr/>
          <p:nvPr/>
        </p:nvSpPr>
        <p:spPr>
          <a:xfrm>
            <a:off x="10680192" y="2048256"/>
            <a:ext cx="713232" cy="210312"/>
          </a:xfrm>
          <a:prstGeom prst="rect">
            <a:avLst/>
          </a:prstGeom>
          <a:noFill/>
          <a:ln/>
        </p:spPr>
        <p:txBody>
          <a:bodyPr wrap="square" lIns="0" tIns="0" rIns="0" bIns="0" rtlCol="0" anchor="ctr"/>
          <a:lstStyle/>
          <a:p>
            <a:pPr algn="ctr" indent="0" marL="0">
              <a:buNone/>
            </a:pPr>
            <a:r>
              <a:rPr lang="en-US" sz="900" b="1" spc="80" kern="0" dirty="0">
                <a:solidFill>
                  <a:srgbClr val="7DAFFF"/>
                </a:solidFill>
                <a:latin typeface="Aptos" pitchFamily="34" charset="0"/>
                <a:ea typeface="Aptos" pitchFamily="34" charset="-122"/>
                <a:cs typeface="Aptos" pitchFamily="34" charset="-120"/>
              </a:rPr>
              <a:t>05</a:t>
            </a:r>
            <a:endParaRPr lang="en-US" sz="900" dirty="0"/>
          </a:p>
        </p:txBody>
      </p:sp>
      <p:sp>
        <p:nvSpPr>
          <p:cNvPr id="25" name="Text 23"/>
          <p:cNvSpPr/>
          <p:nvPr/>
        </p:nvSpPr>
        <p:spPr>
          <a:xfrm>
            <a:off x="10058400" y="3127248"/>
            <a:ext cx="1956816" cy="448056"/>
          </a:xfrm>
          <a:prstGeom prst="rect">
            <a:avLst/>
          </a:prstGeom>
          <a:noFill/>
          <a:ln/>
        </p:spPr>
        <p:txBody>
          <a:bodyPr wrap="square" lIns="0" tIns="0" rIns="0" bIns="0" rtlCol="0" anchor="t"/>
          <a:lstStyle/>
          <a:p>
            <a:pPr algn="ctr" indent="0" marL="0">
              <a:buNone/>
            </a:pPr>
            <a:r>
              <a:rPr lang="en-US" sz="1300" b="1" dirty="0">
                <a:solidFill>
                  <a:srgbClr val="F5F8FA"/>
                </a:solidFill>
                <a:latin typeface="Aptos" pitchFamily="34" charset="0"/>
                <a:ea typeface="Aptos" pitchFamily="34" charset="-122"/>
                <a:cs typeface="Aptos" pitchFamily="34" charset="-120"/>
              </a:rPr>
              <a:t>Listen + improve</a:t>
            </a:r>
            <a:endParaRPr lang="en-US" sz="1300" dirty="0"/>
          </a:p>
        </p:txBody>
      </p:sp>
      <p:sp>
        <p:nvSpPr>
          <p:cNvPr id="26" name="Text 24"/>
          <p:cNvSpPr/>
          <p:nvPr/>
        </p:nvSpPr>
        <p:spPr>
          <a:xfrm>
            <a:off x="9985248" y="3694176"/>
            <a:ext cx="2103120" cy="493776"/>
          </a:xfrm>
          <a:prstGeom prst="rect">
            <a:avLst/>
          </a:prstGeom>
          <a:noFill/>
          <a:ln/>
        </p:spPr>
        <p:txBody>
          <a:bodyPr wrap="square" lIns="0" tIns="0" rIns="0" bIns="0" rtlCol="0" anchor="t"/>
          <a:lstStyle/>
          <a:p>
            <a:pPr algn="ctr" indent="0" marL="0">
              <a:buNone/>
            </a:pPr>
            <a:r>
              <a:rPr lang="en-US" sz="1000" dirty="0">
                <a:solidFill>
                  <a:srgbClr val="A8BDCD"/>
                </a:solidFill>
                <a:latin typeface="Aptos" pitchFamily="34" charset="0"/>
                <a:ea typeface="Aptos" pitchFamily="34" charset="-122"/>
                <a:cs typeface="Aptos" pitchFamily="34" charset="-120"/>
              </a:rPr>
              <a:t>Use feedback to guide</a:t>
            </a:r>
            <a:endParaRPr lang="en-US" sz="1000" dirty="0"/>
          </a:p>
          <a:p>
            <a:pPr algn="ctr" indent="0" marL="0">
              <a:buNone/>
            </a:pPr>
            <a:r>
              <a:rPr lang="en-US" sz="1000" dirty="0">
                <a:solidFill>
                  <a:srgbClr val="A8BDCD"/>
                </a:solidFill>
                <a:latin typeface="Aptos" pitchFamily="34" charset="0"/>
                <a:ea typeface="Aptos" pitchFamily="34" charset="-122"/>
                <a:cs typeface="Aptos" pitchFamily="34" charset="-120"/>
              </a:rPr>
              <a:t>continuous improvement.</a:t>
            </a:r>
            <a:endParaRPr lang="en-US" sz="1000" dirty="0"/>
          </a:p>
        </p:txBody>
      </p:sp>
      <p:sp>
        <p:nvSpPr>
          <p:cNvPr id="27" name="Shape 25"/>
          <p:cNvSpPr/>
          <p:nvPr/>
        </p:nvSpPr>
        <p:spPr>
          <a:xfrm>
            <a:off x="713232" y="4882896"/>
            <a:ext cx="10762488" cy="877824"/>
          </a:xfrm>
          <a:prstGeom prst="roundRect">
            <a:avLst>
              <a:gd name="adj" fmla="val 8333"/>
            </a:avLst>
          </a:prstGeom>
          <a:solidFill>
            <a:srgbClr val="15364F"/>
          </a:solidFill>
          <a:ln w="12700">
            <a:solidFill>
              <a:srgbClr val="15364F">
                <a:alpha val="0"/>
              </a:srgbClr>
            </a:solidFill>
            <a:prstDash val="solid"/>
          </a:ln>
        </p:spPr>
      </p:sp>
      <p:sp>
        <p:nvSpPr>
          <p:cNvPr id="28" name="Text 26"/>
          <p:cNvSpPr/>
          <p:nvPr/>
        </p:nvSpPr>
        <p:spPr>
          <a:xfrm>
            <a:off x="987552" y="5111496"/>
            <a:ext cx="10204704" cy="356616"/>
          </a:xfrm>
          <a:prstGeom prst="rect">
            <a:avLst/>
          </a:prstGeom>
          <a:noFill/>
          <a:ln/>
        </p:spPr>
        <p:txBody>
          <a:bodyPr wrap="square" lIns="0" tIns="0" rIns="0" bIns="0" rtlCol="0" anchor="ctr"/>
          <a:lstStyle/>
          <a:p>
            <a:pPr algn="ctr" indent="0" marL="0">
              <a:buNone/>
            </a:pPr>
            <a:r>
              <a:rPr lang="en-US" sz="1700" b="1" dirty="0">
                <a:solidFill>
                  <a:srgbClr val="F5F8FA"/>
                </a:solidFill>
                <a:latin typeface="Aptos" pitchFamily="34" charset="0"/>
                <a:ea typeface="Aptos" pitchFamily="34" charset="-122"/>
                <a:cs typeface="Aptos" pitchFamily="34" charset="-120"/>
              </a:rPr>
              <a:t>A deliberate, phased approach to building a sustainable modern software development program.</a:t>
            </a:r>
            <a:endParaRPr lang="en-US" sz="1700" dirty="0"/>
          </a:p>
        </p:txBody>
      </p:sp>
      <p:sp>
        <p:nvSpPr>
          <p:cNvPr id="29" name="Text 27"/>
          <p:cNvSpPr/>
          <p:nvPr/>
        </p:nvSpPr>
        <p:spPr>
          <a:xfrm>
            <a:off x="758952" y="5989320"/>
            <a:ext cx="10515600" cy="182880"/>
          </a:xfrm>
          <a:prstGeom prst="rect">
            <a:avLst/>
          </a:prstGeom>
          <a:noFill/>
          <a:ln/>
        </p:spPr>
        <p:txBody>
          <a:bodyPr wrap="square" lIns="0" tIns="0" rIns="0" bIns="0" rtlCol="0" anchor="ctr"/>
          <a:lstStyle/>
          <a:p>
            <a:pPr algn="ctr" indent="0" marL="0">
              <a:buNone/>
            </a:pPr>
            <a:r>
              <a:rPr lang="en-US" sz="900" i="1" dirty="0">
                <a:solidFill>
                  <a:srgbClr val="A8BDCD"/>
                </a:solidFill>
                <a:latin typeface="Aptos" pitchFamily="34" charset="0"/>
                <a:ea typeface="Aptos" pitchFamily="34" charset="-122"/>
                <a:cs typeface="Aptos" pitchFamily="34" charset="-120"/>
              </a:rPr>
              <a:t>Sequence shown; no milestone dates are asserted.</a:t>
            </a:r>
            <a:endParaRPr lang="en-US" sz="900" dirty="0"/>
          </a:p>
        </p:txBody>
      </p:sp>
      <p:sp>
        <p:nvSpPr>
          <p:cNvPr id="25" name="Slide Number Placeholder 0"/>
          <p:cNvSpPr>
            <a:spLocks noGrp="1"/>
          </p:cNvSpPr>
          <p:nvPr>
            <p:ph type="sldNum" sz="quarter" idx="4294967295"/>
          </p:nvPr>
        </p:nvSpPr>
        <p:spPr>
          <a:xfrm>
            <a:off x="11137392" y="6455664"/>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8BDCD"/>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8368" y="283464"/>
            <a:ext cx="9509760" cy="201168"/>
          </a:xfrm>
          <a:prstGeom prst="rect">
            <a:avLst/>
          </a:prstGeom>
          <a:noFill/>
          <a:ln/>
        </p:spPr>
        <p:txBody>
          <a:bodyPr wrap="square" lIns="0" tIns="0" rIns="0" bIns="0" rtlCol="0" anchor="ctr"/>
          <a:lstStyle/>
          <a:p>
            <a:pPr indent="0" marL="0">
              <a:buNone/>
            </a:pPr>
            <a:r>
              <a:rPr lang="en-US" sz="900" b="1" spc="150" kern="0" dirty="0">
                <a:solidFill>
                  <a:srgbClr val="49D2BF"/>
                </a:solidFill>
                <a:latin typeface="Aptos" pitchFamily="34" charset="0"/>
                <a:ea typeface="Aptos" pitchFamily="34" charset="-122"/>
                <a:cs typeface="Aptos" pitchFamily="34" charset="-120"/>
              </a:rPr>
              <a:t>ECPI UNIVERSITY   /   FACULTY CONFERENCE   /   FACULTY PARTNERSHIP</a:t>
            </a:r>
            <a:endParaRPr lang="en-US" sz="900" dirty="0"/>
          </a:p>
        </p:txBody>
      </p:sp>
      <p:sp>
        <p:nvSpPr>
          <p:cNvPr id="3" name="Text 1"/>
          <p:cNvSpPr/>
          <p:nvPr/>
        </p:nvSpPr>
        <p:spPr>
          <a:xfrm>
            <a:off x="10835640" y="283464"/>
            <a:ext cx="713232" cy="201168"/>
          </a:xfrm>
          <a:prstGeom prst="rect">
            <a:avLst/>
          </a:prstGeom>
          <a:noFill/>
          <a:ln/>
        </p:spPr>
        <p:txBody>
          <a:bodyPr wrap="square" lIns="0" tIns="0" rIns="0" bIns="0" rtlCol="0" anchor="ctr"/>
          <a:lstStyle/>
          <a:p>
            <a:pPr algn="r" indent="0" marL="0">
              <a:buNone/>
            </a:pPr>
            <a:r>
              <a:rPr lang="en-US" sz="900" b="1" dirty="0">
                <a:solidFill>
                  <a:srgbClr val="A8BDCD"/>
                </a:solidFill>
                <a:latin typeface="Aptos" pitchFamily="34" charset="0"/>
                <a:ea typeface="Aptos" pitchFamily="34" charset="-122"/>
                <a:cs typeface="Aptos" pitchFamily="34" charset="-120"/>
              </a:rPr>
              <a:t>08  /  08</a:t>
            </a:r>
            <a:endParaRPr lang="en-US" sz="900" dirty="0"/>
          </a:p>
        </p:txBody>
      </p:sp>
      <p:sp>
        <p:nvSpPr>
          <p:cNvPr id="4" name="Text 2"/>
          <p:cNvSpPr/>
          <p:nvPr/>
        </p:nvSpPr>
        <p:spPr>
          <a:xfrm>
            <a:off x="658368" y="694944"/>
            <a:ext cx="10881360" cy="557784"/>
          </a:xfrm>
          <a:prstGeom prst="rect">
            <a:avLst/>
          </a:prstGeom>
          <a:noFill/>
          <a:ln/>
        </p:spPr>
        <p:txBody>
          <a:bodyPr wrap="square" lIns="0" tIns="0" rIns="0" bIns="0" rtlCol="0" anchor="ctr"/>
          <a:lstStyle/>
          <a:p>
            <a:pPr indent="0" marL="0">
              <a:buNone/>
            </a:pPr>
            <a:r>
              <a:rPr lang="en-US" sz="2900" b="1" dirty="0">
                <a:solidFill>
                  <a:srgbClr val="F5F8FA"/>
                </a:solidFill>
                <a:latin typeface="Aptos" pitchFamily="34" charset="0"/>
                <a:ea typeface="Aptos" pitchFamily="34" charset="-122"/>
                <a:cs typeface="Aptos" pitchFamily="34" charset="-120"/>
              </a:rPr>
              <a:t>Building the Future Together</a:t>
            </a:r>
            <a:endParaRPr lang="en-US" sz="2900" dirty="0"/>
          </a:p>
        </p:txBody>
      </p:sp>
      <p:sp>
        <p:nvSpPr>
          <p:cNvPr id="5" name="Text 3"/>
          <p:cNvSpPr/>
          <p:nvPr/>
        </p:nvSpPr>
        <p:spPr>
          <a:xfrm>
            <a:off x="676656" y="1307592"/>
            <a:ext cx="10332720" cy="320040"/>
          </a:xfrm>
          <a:prstGeom prst="rect">
            <a:avLst/>
          </a:prstGeom>
          <a:noFill/>
          <a:ln/>
        </p:spPr>
        <p:txBody>
          <a:bodyPr wrap="square" lIns="0" tIns="0" rIns="0" bIns="0" rtlCol="0" anchor="ctr"/>
          <a:lstStyle/>
          <a:p>
            <a:pPr indent="0" marL="0">
              <a:buNone/>
            </a:pPr>
            <a:r>
              <a:rPr lang="en-US" sz="1300" dirty="0">
                <a:solidFill>
                  <a:srgbClr val="A8BDCD"/>
                </a:solidFill>
                <a:latin typeface="Aptos" pitchFamily="34" charset="0"/>
                <a:ea typeface="Aptos" pitchFamily="34" charset="-122"/>
                <a:cs typeface="Aptos" pitchFamily="34" charset="-120"/>
              </a:rPr>
              <a:t>The transformation is about the people our students are becoming.</a:t>
            </a:r>
            <a:endParaRPr lang="en-US" sz="1300" dirty="0"/>
          </a:p>
        </p:txBody>
      </p:sp>
      <p:sp>
        <p:nvSpPr>
          <p:cNvPr id="6" name="Text 4"/>
          <p:cNvSpPr/>
          <p:nvPr/>
        </p:nvSpPr>
        <p:spPr>
          <a:xfrm>
            <a:off x="713232" y="1792224"/>
            <a:ext cx="10634472" cy="658368"/>
          </a:xfrm>
          <a:prstGeom prst="rect">
            <a:avLst/>
          </a:prstGeom>
          <a:noFill/>
          <a:ln/>
        </p:spPr>
        <p:txBody>
          <a:bodyPr wrap="square" lIns="0" tIns="0" rIns="0" bIns="0" rtlCol="0" anchor="t"/>
          <a:lstStyle/>
          <a:p>
            <a:pPr indent="0" marL="0">
              <a:buNone/>
            </a:pPr>
            <a:r>
              <a:rPr lang="en-US" sz="1700" dirty="0">
                <a:solidFill>
                  <a:srgbClr val="A8BDCD"/>
                </a:solidFill>
                <a:latin typeface="Aptos" pitchFamily="34" charset="0"/>
                <a:ea typeface="Aptos" pitchFamily="34" charset="-122"/>
                <a:cs typeface="Aptos" pitchFamily="34" charset="-120"/>
              </a:rPr>
              <a:t>Equip students with the judgment, confidence, craftsmanship, and adaptability to succeed in an evolving profession.</a:t>
            </a:r>
            <a:endParaRPr lang="en-US" sz="1700" dirty="0"/>
          </a:p>
        </p:txBody>
      </p:sp>
      <p:sp>
        <p:nvSpPr>
          <p:cNvPr id="7" name="Shape 5"/>
          <p:cNvSpPr/>
          <p:nvPr/>
        </p:nvSpPr>
        <p:spPr>
          <a:xfrm>
            <a:off x="713232" y="2743200"/>
            <a:ext cx="438912" cy="41148"/>
          </a:xfrm>
          <a:prstGeom prst="rect">
            <a:avLst/>
          </a:prstGeom>
          <a:solidFill>
            <a:srgbClr val="49D2BF"/>
          </a:solidFill>
          <a:ln w="12700">
            <a:solidFill>
              <a:srgbClr val="49D2BF">
                <a:alpha val="0"/>
              </a:srgbClr>
            </a:solidFill>
            <a:prstDash val="solid"/>
          </a:ln>
        </p:spPr>
      </p:sp>
      <p:sp>
        <p:nvSpPr>
          <p:cNvPr id="8" name="Text 6"/>
          <p:cNvSpPr/>
          <p:nvPr/>
        </p:nvSpPr>
        <p:spPr>
          <a:xfrm>
            <a:off x="713232" y="2971800"/>
            <a:ext cx="3291840" cy="320040"/>
          </a:xfrm>
          <a:prstGeom prst="rect">
            <a:avLst/>
          </a:prstGeom>
          <a:noFill/>
          <a:ln/>
        </p:spPr>
        <p:txBody>
          <a:bodyPr wrap="square" lIns="0" tIns="0" rIns="0" bIns="0" rtlCol="0" anchor="ctr"/>
          <a:lstStyle/>
          <a:p>
            <a:pPr indent="0" marL="0">
              <a:buNone/>
            </a:pPr>
            <a:r>
              <a:rPr lang="en-US" sz="1500" b="1" dirty="0">
                <a:solidFill>
                  <a:srgbClr val="F5F8FA"/>
                </a:solidFill>
                <a:latin typeface="Aptos" pitchFamily="34" charset="0"/>
                <a:ea typeface="Aptos" pitchFamily="34" charset="-122"/>
                <a:cs typeface="Aptos" pitchFamily="34" charset="-120"/>
              </a:rPr>
              <a:t>Share expertise</a:t>
            </a:r>
            <a:endParaRPr lang="en-US" sz="1500" dirty="0"/>
          </a:p>
        </p:txBody>
      </p:sp>
      <p:sp>
        <p:nvSpPr>
          <p:cNvPr id="9" name="Text 7"/>
          <p:cNvSpPr/>
          <p:nvPr/>
        </p:nvSpPr>
        <p:spPr>
          <a:xfrm>
            <a:off x="713232" y="3392424"/>
            <a:ext cx="3246120" cy="484632"/>
          </a:xfrm>
          <a:prstGeom prst="rect">
            <a:avLst/>
          </a:prstGeom>
          <a:noFill/>
          <a:ln/>
        </p:spPr>
        <p:txBody>
          <a:bodyPr wrap="square" lIns="0" tIns="0" rIns="0" bIns="0" rtlCol="0" anchor="t"/>
          <a:lstStyle/>
          <a:p>
            <a:pPr indent="0" marL="0">
              <a:buNone/>
            </a:pPr>
            <a:r>
              <a:rPr lang="en-US" sz="1100" dirty="0">
                <a:solidFill>
                  <a:srgbClr val="A8BDCD"/>
                </a:solidFill>
                <a:latin typeface="Aptos" pitchFamily="34" charset="0"/>
                <a:ea typeface="Aptos" pitchFamily="34" charset="-122"/>
                <a:cs typeface="Aptos" pitchFamily="34" charset="-120"/>
              </a:rPr>
              <a:t>Bring instructional insight</a:t>
            </a:r>
            <a:endParaRPr lang="en-US" sz="1100" dirty="0"/>
          </a:p>
          <a:p>
            <a:pPr indent="0" marL="0">
              <a:buNone/>
            </a:pPr>
            <a:r>
              <a:rPr lang="en-US" sz="1100" dirty="0">
                <a:solidFill>
                  <a:srgbClr val="A8BDCD"/>
                </a:solidFill>
                <a:latin typeface="Aptos" pitchFamily="34" charset="0"/>
                <a:ea typeface="Aptos" pitchFamily="34" charset="-122"/>
                <a:cs typeface="Aptos" pitchFamily="34" charset="-120"/>
              </a:rPr>
              <a:t>and practical experience.</a:t>
            </a:r>
            <a:endParaRPr lang="en-US" sz="1100" dirty="0"/>
          </a:p>
        </p:txBody>
      </p:sp>
      <p:sp>
        <p:nvSpPr>
          <p:cNvPr id="10" name="Shape 8"/>
          <p:cNvSpPr/>
          <p:nvPr/>
        </p:nvSpPr>
        <p:spPr>
          <a:xfrm>
            <a:off x="4407408" y="2743200"/>
            <a:ext cx="438912" cy="41148"/>
          </a:xfrm>
          <a:prstGeom prst="rect">
            <a:avLst/>
          </a:prstGeom>
          <a:solidFill>
            <a:srgbClr val="7DAFFF"/>
          </a:solidFill>
          <a:ln w="12700">
            <a:solidFill>
              <a:srgbClr val="7DAFFF">
                <a:alpha val="0"/>
              </a:srgbClr>
            </a:solidFill>
            <a:prstDash val="solid"/>
          </a:ln>
        </p:spPr>
      </p:sp>
      <p:sp>
        <p:nvSpPr>
          <p:cNvPr id="11" name="Text 9"/>
          <p:cNvSpPr/>
          <p:nvPr/>
        </p:nvSpPr>
        <p:spPr>
          <a:xfrm>
            <a:off x="4407408" y="2971800"/>
            <a:ext cx="3291840" cy="320040"/>
          </a:xfrm>
          <a:prstGeom prst="rect">
            <a:avLst/>
          </a:prstGeom>
          <a:noFill/>
          <a:ln/>
        </p:spPr>
        <p:txBody>
          <a:bodyPr wrap="square" lIns="0" tIns="0" rIns="0" bIns="0" rtlCol="0" anchor="ctr"/>
          <a:lstStyle/>
          <a:p>
            <a:pPr indent="0" marL="0">
              <a:buNone/>
            </a:pPr>
            <a:r>
              <a:rPr lang="en-US" sz="1500" b="1" dirty="0">
                <a:solidFill>
                  <a:srgbClr val="F5F8FA"/>
                </a:solidFill>
                <a:latin typeface="Aptos" pitchFamily="34" charset="0"/>
                <a:ea typeface="Aptos" pitchFamily="34" charset="-122"/>
                <a:cs typeface="Aptos" pitchFamily="34" charset="-120"/>
              </a:rPr>
              <a:t>Shape the review</a:t>
            </a:r>
            <a:endParaRPr lang="en-US" sz="1500" dirty="0"/>
          </a:p>
        </p:txBody>
      </p:sp>
      <p:sp>
        <p:nvSpPr>
          <p:cNvPr id="12" name="Text 10"/>
          <p:cNvSpPr/>
          <p:nvPr/>
        </p:nvSpPr>
        <p:spPr>
          <a:xfrm>
            <a:off x="4407408" y="3392424"/>
            <a:ext cx="3246120" cy="484632"/>
          </a:xfrm>
          <a:prstGeom prst="rect">
            <a:avLst/>
          </a:prstGeom>
          <a:noFill/>
          <a:ln/>
        </p:spPr>
        <p:txBody>
          <a:bodyPr wrap="square" lIns="0" tIns="0" rIns="0" bIns="0" rtlCol="0" anchor="t"/>
          <a:lstStyle/>
          <a:p>
            <a:pPr indent="0" marL="0">
              <a:buNone/>
            </a:pPr>
            <a:r>
              <a:rPr lang="en-US" sz="1100" dirty="0">
                <a:solidFill>
                  <a:srgbClr val="A8BDCD"/>
                </a:solidFill>
                <a:latin typeface="Aptos" pitchFamily="34" charset="0"/>
                <a:ea typeface="Aptos" pitchFamily="34" charset="-122"/>
                <a:cs typeface="Aptos" pitchFamily="34" charset="-120"/>
              </a:rPr>
              <a:t>Contribute to course review</a:t>
            </a:r>
            <a:endParaRPr lang="en-US" sz="1100" dirty="0"/>
          </a:p>
          <a:p>
            <a:pPr indent="0" marL="0">
              <a:buNone/>
            </a:pPr>
            <a:r>
              <a:rPr lang="en-US" sz="1100" dirty="0">
                <a:solidFill>
                  <a:srgbClr val="A8BDCD"/>
                </a:solidFill>
                <a:latin typeface="Aptos" pitchFamily="34" charset="0"/>
                <a:ea typeface="Aptos" pitchFamily="34" charset="-122"/>
                <a:cs typeface="Aptos" pitchFamily="34" charset="-120"/>
              </a:rPr>
              <a:t>and ongoing improvement.</a:t>
            </a:r>
            <a:endParaRPr lang="en-US" sz="1100" dirty="0"/>
          </a:p>
        </p:txBody>
      </p:sp>
      <p:sp>
        <p:nvSpPr>
          <p:cNvPr id="13" name="Shape 11"/>
          <p:cNvSpPr/>
          <p:nvPr/>
        </p:nvSpPr>
        <p:spPr>
          <a:xfrm>
            <a:off x="8101584" y="2743200"/>
            <a:ext cx="438912" cy="41148"/>
          </a:xfrm>
          <a:prstGeom prst="rect">
            <a:avLst/>
          </a:prstGeom>
          <a:solidFill>
            <a:srgbClr val="F4BD62"/>
          </a:solidFill>
          <a:ln w="12700">
            <a:solidFill>
              <a:srgbClr val="F4BD62">
                <a:alpha val="0"/>
              </a:srgbClr>
            </a:solidFill>
            <a:prstDash val="solid"/>
          </a:ln>
        </p:spPr>
      </p:sp>
      <p:sp>
        <p:nvSpPr>
          <p:cNvPr id="14" name="Text 12"/>
          <p:cNvSpPr/>
          <p:nvPr/>
        </p:nvSpPr>
        <p:spPr>
          <a:xfrm>
            <a:off x="8101584" y="2971800"/>
            <a:ext cx="3291840" cy="320040"/>
          </a:xfrm>
          <a:prstGeom prst="rect">
            <a:avLst/>
          </a:prstGeom>
          <a:noFill/>
          <a:ln/>
        </p:spPr>
        <p:txBody>
          <a:bodyPr wrap="square" lIns="0" tIns="0" rIns="0" bIns="0" rtlCol="0" anchor="ctr"/>
          <a:lstStyle/>
          <a:p>
            <a:pPr indent="0" marL="0">
              <a:buNone/>
            </a:pPr>
            <a:r>
              <a:rPr lang="en-US" sz="1500" b="1" dirty="0">
                <a:solidFill>
                  <a:srgbClr val="F5F8FA"/>
                </a:solidFill>
                <a:latin typeface="Aptos" pitchFamily="34" charset="0"/>
                <a:ea typeface="Aptos" pitchFamily="34" charset="-122"/>
                <a:cs typeface="Aptos" pitchFamily="34" charset="-120"/>
              </a:rPr>
              <a:t>Coach judgment</a:t>
            </a:r>
            <a:endParaRPr lang="en-US" sz="1500" dirty="0"/>
          </a:p>
        </p:txBody>
      </p:sp>
      <p:sp>
        <p:nvSpPr>
          <p:cNvPr id="15" name="Text 13"/>
          <p:cNvSpPr/>
          <p:nvPr/>
        </p:nvSpPr>
        <p:spPr>
          <a:xfrm>
            <a:off x="8101584" y="3392424"/>
            <a:ext cx="3246120" cy="484632"/>
          </a:xfrm>
          <a:prstGeom prst="rect">
            <a:avLst/>
          </a:prstGeom>
          <a:noFill/>
          <a:ln/>
        </p:spPr>
        <p:txBody>
          <a:bodyPr wrap="square" lIns="0" tIns="0" rIns="0" bIns="0" rtlCol="0" anchor="t"/>
          <a:lstStyle/>
          <a:p>
            <a:pPr indent="0" marL="0">
              <a:buNone/>
            </a:pPr>
            <a:r>
              <a:rPr lang="en-US" sz="1100" dirty="0">
                <a:solidFill>
                  <a:srgbClr val="A8BDCD"/>
                </a:solidFill>
                <a:latin typeface="Aptos" pitchFamily="34" charset="0"/>
                <a:ea typeface="Aptos" pitchFamily="34" charset="-122"/>
                <a:cs typeface="Aptos" pitchFamily="34" charset="-120"/>
              </a:rPr>
              <a:t>Help students pair new skills</a:t>
            </a:r>
            <a:endParaRPr lang="en-US" sz="1100" dirty="0"/>
          </a:p>
          <a:p>
            <a:pPr indent="0" marL="0">
              <a:buNone/>
            </a:pPr>
            <a:r>
              <a:rPr lang="en-US" sz="1100" dirty="0">
                <a:solidFill>
                  <a:srgbClr val="A8BDCD"/>
                </a:solidFill>
                <a:latin typeface="Aptos" pitchFamily="34" charset="0"/>
                <a:ea typeface="Aptos" pitchFamily="34" charset="-122"/>
                <a:cs typeface="Aptos" pitchFamily="34" charset="-120"/>
              </a:rPr>
              <a:t>with professional discernment.</a:t>
            </a:r>
            <a:endParaRPr lang="en-US" sz="1100" dirty="0"/>
          </a:p>
        </p:txBody>
      </p:sp>
      <p:sp>
        <p:nvSpPr>
          <p:cNvPr id="16" name="Shape 14"/>
          <p:cNvSpPr/>
          <p:nvPr/>
        </p:nvSpPr>
        <p:spPr>
          <a:xfrm>
            <a:off x="713232" y="4315968"/>
            <a:ext cx="10780776" cy="1298448"/>
          </a:xfrm>
          <a:prstGeom prst="roundRect">
            <a:avLst>
              <a:gd name="adj" fmla="val 5634"/>
            </a:avLst>
          </a:prstGeom>
          <a:solidFill>
            <a:srgbClr val="15364F"/>
          </a:solidFill>
          <a:ln w="12700">
            <a:solidFill>
              <a:srgbClr val="15364F">
                <a:alpha val="0"/>
              </a:srgbClr>
            </a:solidFill>
            <a:prstDash val="solid"/>
          </a:ln>
        </p:spPr>
      </p:sp>
      <p:sp>
        <p:nvSpPr>
          <p:cNvPr id="17" name="Text 15"/>
          <p:cNvSpPr/>
          <p:nvPr/>
        </p:nvSpPr>
        <p:spPr>
          <a:xfrm>
            <a:off x="1024128" y="4553712"/>
            <a:ext cx="10195560" cy="329184"/>
          </a:xfrm>
          <a:prstGeom prst="rect">
            <a:avLst/>
          </a:prstGeom>
          <a:noFill/>
          <a:ln/>
        </p:spPr>
        <p:txBody>
          <a:bodyPr wrap="square" lIns="0" tIns="0" rIns="0" bIns="0" rtlCol="0" anchor="ctr"/>
          <a:lstStyle/>
          <a:p>
            <a:pPr algn="ctr" indent="0" marL="0">
              <a:buNone/>
            </a:pPr>
            <a:r>
              <a:rPr lang="en-US" sz="1700" b="1" dirty="0">
                <a:solidFill>
                  <a:srgbClr val="F5F8FA"/>
                </a:solidFill>
                <a:latin typeface="Aptos" pitchFamily="34" charset="0"/>
                <a:ea typeface="Aptos" pitchFamily="34" charset="-122"/>
                <a:cs typeface="Aptos" pitchFamily="34" charset="-120"/>
              </a:rPr>
              <a:t>“The future of software development is not AI versus developers.</a:t>
            </a:r>
            <a:endParaRPr lang="en-US" sz="1700" dirty="0"/>
          </a:p>
        </p:txBody>
      </p:sp>
      <p:sp>
        <p:nvSpPr>
          <p:cNvPr id="18" name="Text 16"/>
          <p:cNvSpPr/>
          <p:nvPr/>
        </p:nvSpPr>
        <p:spPr>
          <a:xfrm>
            <a:off x="1024128" y="4965192"/>
            <a:ext cx="10195560" cy="338328"/>
          </a:xfrm>
          <a:prstGeom prst="rect">
            <a:avLst/>
          </a:prstGeom>
          <a:noFill/>
          <a:ln/>
        </p:spPr>
        <p:txBody>
          <a:bodyPr wrap="square" lIns="0" tIns="0" rIns="0" bIns="0" rtlCol="0" anchor="ctr"/>
          <a:lstStyle/>
          <a:p>
            <a:pPr algn="ctr" indent="0" marL="0">
              <a:buNone/>
            </a:pPr>
            <a:r>
              <a:rPr lang="en-US" sz="2000" b="1" dirty="0">
                <a:solidFill>
                  <a:srgbClr val="49D2BF"/>
                </a:solidFill>
                <a:latin typeface="Aptos" pitchFamily="34" charset="0"/>
                <a:ea typeface="Aptos" pitchFamily="34" charset="-122"/>
                <a:cs typeface="Aptos" pitchFamily="34" charset="-120"/>
              </a:rPr>
              <a:t>It is better developers, augmented by AI.”</a:t>
            </a:r>
            <a:endParaRPr lang="en-US" sz="2000" dirty="0"/>
          </a:p>
        </p:txBody>
      </p:sp>
      <p:sp>
        <p:nvSpPr>
          <p:cNvPr id="19" name="Text 17"/>
          <p:cNvSpPr/>
          <p:nvPr/>
        </p:nvSpPr>
        <p:spPr>
          <a:xfrm>
            <a:off x="758952" y="6035040"/>
            <a:ext cx="2011680" cy="182880"/>
          </a:xfrm>
          <a:prstGeom prst="rect">
            <a:avLst/>
          </a:prstGeom>
          <a:noFill/>
          <a:ln/>
        </p:spPr>
        <p:txBody>
          <a:bodyPr wrap="square" lIns="0" tIns="0" rIns="0" bIns="0" rtlCol="0" anchor="ctr"/>
          <a:lstStyle/>
          <a:p>
            <a:pPr indent="0" marL="0">
              <a:buNone/>
            </a:pPr>
            <a:r>
              <a:rPr lang="en-US" sz="900" b="1" spc="130" kern="0" dirty="0">
                <a:solidFill>
                  <a:srgbClr val="49D2BF"/>
                </a:solidFill>
                <a:latin typeface="Aptos" pitchFamily="34" charset="0"/>
                <a:ea typeface="Aptos" pitchFamily="34" charset="-122"/>
                <a:cs typeface="Aptos" pitchFamily="34" charset="-120"/>
              </a:rPr>
              <a:t>DISCUSSION</a:t>
            </a:r>
            <a:endParaRPr lang="en-US" sz="900" dirty="0"/>
          </a:p>
        </p:txBody>
      </p:sp>
      <p:sp>
        <p:nvSpPr>
          <p:cNvPr id="25" name="Slide Number Placeholder 0"/>
          <p:cNvSpPr>
            <a:spLocks noGrp="1"/>
          </p:cNvSpPr>
          <p:nvPr>
            <p:ph type="sldNum" sz="quarter" idx="4294967295"/>
          </p:nvPr>
        </p:nvSpPr>
        <p:spPr>
          <a:xfrm>
            <a:off x="11137392" y="6455664"/>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8BDCD"/>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ECPI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Future of Software Development at ECPI</dc:title>
  <dc:subject>November 2026 Faculty Conference</dc:subject>
  <dc:creator>ECPI University</dc:creator>
  <cp:lastModifiedBy>ECPI University</cp:lastModifiedBy>
  <cp:revision>1</cp:revision>
  <dcterms:created xsi:type="dcterms:W3CDTF">2026-10-27T17:33:02Z</dcterms:created>
  <dcterms:modified xsi:type="dcterms:W3CDTF">2026-10-27T17:33:02Z</dcterms:modified>
</cp:coreProperties>
</file>